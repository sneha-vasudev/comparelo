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6" r:id="rId2"/>
    <p:sldId id="257" r:id="rId3"/>
    <p:sldId id="261" r:id="rId4"/>
    <p:sldId id="265" r:id="rId5"/>
    <p:sldId id="267" r:id="rId6"/>
    <p:sldId id="266" r:id="rId7"/>
    <p:sldId id="268" r:id="rId8"/>
    <p:sldId id="271" r:id="rId9"/>
    <p:sldId id="269" r:id="rId10"/>
    <p:sldId id="270" r:id="rId11"/>
    <p:sldId id="274" r:id="rId12"/>
    <p:sldId id="272" r:id="rId13"/>
    <p:sldId id="273" r:id="rId14"/>
    <p:sldId id="277" r:id="rId15"/>
    <p:sldId id="276" r:id="rId16"/>
    <p:sldId id="280" r:id="rId17"/>
    <p:sldId id="278" r:id="rId18"/>
    <p:sldId id="275" r:id="rId19"/>
    <p:sldId id="279" r:id="rId20"/>
    <p:sldId id="281" r:id="rId21"/>
    <p:sldId id="283" r:id="rId22"/>
    <p:sldId id="26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CE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3" d="100"/>
          <a:sy n="63" d="100"/>
        </p:scale>
        <p:origin x="56" y="3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A37DB-A1B1-4DC9-B194-A37DF3F6FE2D}" type="datetimeFigureOut">
              <a:rPr lang="en-IN" smtClean="0"/>
              <a:t>19-10-2023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D01AB8-2F34-4F40-914F-E44A259E9477}" type="slidenum">
              <a:rPr lang="en-IN" smtClean="0"/>
              <a:t>‹#›</a:t>
            </a:fld>
            <a:endParaRPr lang="en-IN"/>
          </a:p>
        </p:txBody>
      </p:sp>
    </p:spTree>
    <p:extLst>
      <p:ext uri="{BB962C8B-B14F-4D97-AF65-F5344CB8AC3E}">
        <p14:creationId xmlns:p14="http://schemas.microsoft.com/office/powerpoint/2010/main" val="750611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D01AB8-2F34-4F40-914F-E44A259E9477}" type="slidenum">
              <a:rPr lang="en-IN" smtClean="0"/>
              <a:t>16</a:t>
            </a:fld>
            <a:endParaRPr lang="en-IN"/>
          </a:p>
        </p:txBody>
      </p:sp>
    </p:spTree>
    <p:extLst>
      <p:ext uri="{BB962C8B-B14F-4D97-AF65-F5344CB8AC3E}">
        <p14:creationId xmlns:p14="http://schemas.microsoft.com/office/powerpoint/2010/main" val="531327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10/19/2023</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582354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5584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10/19/2023</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58065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38841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69502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06046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003612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10/19/2023</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1335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32898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98717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10/19/2023</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25412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10/19/2023</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49118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0.png"/><Relationship Id="rId4" Type="http://schemas.openxmlformats.org/officeDocument/2006/relationships/slide" Target="slide9.xml"/><Relationship Id="rId9" Type="http://schemas.openxmlformats.org/officeDocument/2006/relationships/image" Target="../media/image2.jpg"/></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png"/><Relationship Id="rId7" Type="http://schemas.openxmlformats.org/officeDocument/2006/relationships/slide" Target="slide13.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slide" Target="slide12.xml"/><Relationship Id="rId9" Type="http://schemas.openxmlformats.org/officeDocument/2006/relationships/image" Target="../media/image2.jpg"/></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10.png"/><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medium.com/gobeyond-ai/how-to-create-a-great-product-comparison-page-to-boost-conversions-a37bf95681fd" TargetMode="External"/><Relationship Id="rId7" Type="http://schemas.openxmlformats.org/officeDocument/2006/relationships/hyperlink" Target="https://www.flipkart.com/redmi-note-11-starburst-white-64-gb/p/itme81102bba3838?pid=MOBGHDXJNRAAV5HV&amp;lid=LSTMOBGHDXJNRAAV5HVQJWZEU&amp;marketplace=FLIPKART&amp;cmpid=content_mobile_8965229628_gmc" TargetMode="External"/><Relationship Id="rId2" Type="http://schemas.openxmlformats.org/officeDocument/2006/relationships/hyperlink" Target="https://www.researchgate.net/publication/348923873_PRICE_COMPARISON_WEBSITEs" TargetMode="External"/><Relationship Id="rId1" Type="http://schemas.openxmlformats.org/officeDocument/2006/relationships/slideLayout" Target="../slideLayouts/slideLayout7.xml"/><Relationship Id="rId6" Type="http://schemas.openxmlformats.org/officeDocument/2006/relationships/hyperlink" Target="https://amzn.eu/d/8kWaHsJ" TargetMode="External"/><Relationship Id="rId5" Type="http://schemas.openxmlformats.org/officeDocument/2006/relationships/hyperlink" Target="https://youtu.be/M_bhZEY6_kM?si=eitH5OPGGlYRtjpn" TargetMode="External"/><Relationship Id="rId4" Type="http://schemas.openxmlformats.org/officeDocument/2006/relationships/hyperlink" Target="https://youtu.be/9dY4ExUEgZw?si=j7R26VPtHqh3_aH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5EE7-6560-858E-5A5B-75750DA9DC30}"/>
              </a:ext>
            </a:extLst>
          </p:cNvPr>
          <p:cNvSpPr>
            <a:spLocks noGrp="1"/>
          </p:cNvSpPr>
          <p:nvPr>
            <p:ph type="ctrTitle"/>
          </p:nvPr>
        </p:nvSpPr>
        <p:spPr>
          <a:xfrm>
            <a:off x="3660173" y="1437032"/>
            <a:ext cx="4871654" cy="1266306"/>
          </a:xfrm>
        </p:spPr>
        <p:txBody>
          <a:bodyPr>
            <a:normAutofit fontScale="90000"/>
          </a:bodyPr>
          <a:lstStyle/>
          <a:p>
            <a:pPr algn="ctr"/>
            <a:r>
              <a:rPr lang="en-IN" sz="8800" b="1" i="1" cap="none" dirty="0" err="1">
                <a:ln w="0"/>
                <a:effectLst>
                  <a:outerShdw blurRad="38100" dist="25400" dir="5400000" algn="ctr" rotWithShape="0">
                    <a:srgbClr val="6E747A">
                      <a:alpha val="43000"/>
                    </a:srgbClr>
                  </a:outerShdw>
                </a:effectLst>
                <a:latin typeface="Agency FB" panose="020B0503020202020204" pitchFamily="34" charset="0"/>
              </a:rPr>
              <a:t>Comparelo</a:t>
            </a:r>
            <a:endParaRPr lang="en-IN" sz="8800" b="1" i="1" cap="none" dirty="0">
              <a:ln w="0"/>
              <a:effectLst>
                <a:outerShdw blurRad="38100" dist="25400" dir="5400000" algn="ctr" rotWithShape="0">
                  <a:srgbClr val="6E747A">
                    <a:alpha val="43000"/>
                  </a:srgbClr>
                </a:outerShdw>
              </a:effectLst>
              <a:latin typeface="Agency FB" panose="020B0503020202020204" pitchFamily="34" charset="0"/>
            </a:endParaRPr>
          </a:p>
        </p:txBody>
      </p:sp>
      <p:sp>
        <p:nvSpPr>
          <p:cNvPr id="3" name="Subtitle 2">
            <a:extLst>
              <a:ext uri="{FF2B5EF4-FFF2-40B4-BE49-F238E27FC236}">
                <a16:creationId xmlns:a16="http://schemas.microsoft.com/office/drawing/2014/main" id="{5499E264-D590-BD22-830A-D2AE1EA3D279}"/>
              </a:ext>
            </a:extLst>
          </p:cNvPr>
          <p:cNvSpPr>
            <a:spLocks noGrp="1"/>
          </p:cNvSpPr>
          <p:nvPr>
            <p:ph type="subTitle" idx="1"/>
          </p:nvPr>
        </p:nvSpPr>
        <p:spPr>
          <a:xfrm>
            <a:off x="7126381" y="3429000"/>
            <a:ext cx="4467497" cy="2614749"/>
          </a:xfrm>
        </p:spPr>
        <p:txBody>
          <a:bodyPr>
            <a:normAutofit lnSpcReduction="10000"/>
          </a:bodyPr>
          <a:lstStyle/>
          <a:p>
            <a:pPr algn="l"/>
            <a:r>
              <a:rPr lang="en-IN" sz="2000" b="1" i="0" u="sng" dirty="0">
                <a:solidFill>
                  <a:schemeClr val="accent1">
                    <a:lumMod val="10000"/>
                    <a:lumOff val="90000"/>
                  </a:schemeClr>
                </a:solidFill>
                <a:effectLst/>
                <a:latin typeface="Arial" panose="020B0604020202020204" pitchFamily="34" charset="0"/>
              </a:rPr>
              <a:t>Team Members</a:t>
            </a:r>
          </a:p>
          <a:p>
            <a:pPr algn="l"/>
            <a:r>
              <a:rPr lang="en-IN" sz="1600" b="0" i="0" dirty="0">
                <a:solidFill>
                  <a:schemeClr val="accent1">
                    <a:lumMod val="10000"/>
                    <a:lumOff val="90000"/>
                  </a:schemeClr>
                </a:solidFill>
                <a:effectLst/>
                <a:latin typeface="Arial" panose="020B0604020202020204" pitchFamily="34" charset="0"/>
              </a:rPr>
              <a:t>Sneha Vasudev (22BEY10060)</a:t>
            </a:r>
          </a:p>
          <a:p>
            <a:pPr algn="l"/>
            <a:r>
              <a:rPr lang="en-IN" sz="1600" b="0" i="0" dirty="0">
                <a:solidFill>
                  <a:schemeClr val="accent1">
                    <a:lumMod val="10000"/>
                    <a:lumOff val="90000"/>
                  </a:schemeClr>
                </a:solidFill>
                <a:effectLst/>
                <a:latin typeface="Arial" panose="020B0604020202020204" pitchFamily="34" charset="0"/>
              </a:rPr>
              <a:t>Palak Jain (22BEY10075) </a:t>
            </a:r>
          </a:p>
          <a:p>
            <a:pPr algn="l"/>
            <a:r>
              <a:rPr lang="en-IN" sz="1600" b="0" i="0" dirty="0">
                <a:solidFill>
                  <a:schemeClr val="accent1">
                    <a:lumMod val="10000"/>
                    <a:lumOff val="90000"/>
                  </a:schemeClr>
                </a:solidFill>
                <a:effectLst/>
                <a:latin typeface="Arial" panose="020B0604020202020204" pitchFamily="34" charset="0"/>
              </a:rPr>
              <a:t> Prerna Kumari (22BEY10020)</a:t>
            </a:r>
          </a:p>
          <a:p>
            <a:pPr algn="l"/>
            <a:r>
              <a:rPr lang="en-IN" sz="1600" b="0" i="0" dirty="0">
                <a:solidFill>
                  <a:schemeClr val="accent1">
                    <a:lumMod val="10000"/>
                    <a:lumOff val="90000"/>
                  </a:schemeClr>
                </a:solidFill>
                <a:effectLst/>
                <a:latin typeface="Arial" panose="020B0604020202020204" pitchFamily="34" charset="0"/>
              </a:rPr>
              <a:t>Prince Sahu (22BEY10117)</a:t>
            </a:r>
          </a:p>
          <a:p>
            <a:pPr algn="l"/>
            <a:r>
              <a:rPr lang="en-IN" sz="1600" b="0" i="0" dirty="0" err="1">
                <a:solidFill>
                  <a:schemeClr val="accent1">
                    <a:lumMod val="10000"/>
                    <a:lumOff val="90000"/>
                  </a:schemeClr>
                </a:solidFill>
                <a:effectLst/>
                <a:latin typeface="Arial" panose="020B0604020202020204" pitchFamily="34" charset="0"/>
              </a:rPr>
              <a:t>Divyanshu</a:t>
            </a:r>
            <a:r>
              <a:rPr lang="en-IN" sz="1600" b="0" i="0" dirty="0">
                <a:solidFill>
                  <a:schemeClr val="accent1">
                    <a:lumMod val="10000"/>
                    <a:lumOff val="90000"/>
                  </a:schemeClr>
                </a:solidFill>
                <a:effectLst/>
                <a:latin typeface="Arial" panose="020B0604020202020204" pitchFamily="34" charset="0"/>
              </a:rPr>
              <a:t> Pratap Singh (22BEY10018)</a:t>
            </a:r>
          </a:p>
          <a:p>
            <a:pPr algn="l"/>
            <a:r>
              <a:rPr lang="en-IN" sz="1600" dirty="0">
                <a:solidFill>
                  <a:schemeClr val="accent1">
                    <a:lumMod val="10000"/>
                    <a:lumOff val="90000"/>
                  </a:schemeClr>
                </a:solidFill>
                <a:latin typeface="Arial" panose="020B0604020202020204" pitchFamily="34" charset="0"/>
                <a:cs typeface="Arial" panose="020B0604020202020204" pitchFamily="34" charset="0"/>
              </a:rPr>
              <a:t>Vinit Kumar </a:t>
            </a:r>
            <a:r>
              <a:rPr lang="en-IN" sz="1600" b="0" i="0" dirty="0">
                <a:solidFill>
                  <a:schemeClr val="accent1">
                    <a:lumMod val="10000"/>
                    <a:lumOff val="90000"/>
                  </a:schemeClr>
                </a:solidFill>
                <a:effectLst/>
                <a:latin typeface="Arial" panose="020B0604020202020204" pitchFamily="34" charset="0"/>
              </a:rPr>
              <a:t>(22BEY10069)</a:t>
            </a:r>
            <a:endParaRPr lang="en-IN" sz="1600" dirty="0">
              <a:solidFill>
                <a:schemeClr val="accent1">
                  <a:lumMod val="10000"/>
                  <a:lumOff val="90000"/>
                </a:schemeClr>
              </a:solidFill>
            </a:endParaRPr>
          </a:p>
          <a:p>
            <a:pPr algn="r"/>
            <a:endParaRPr lang="en-IN" dirty="0"/>
          </a:p>
        </p:txBody>
      </p:sp>
      <p:sp>
        <p:nvSpPr>
          <p:cNvPr id="4" name="Subtitle 2">
            <a:extLst>
              <a:ext uri="{FF2B5EF4-FFF2-40B4-BE49-F238E27FC236}">
                <a16:creationId xmlns:a16="http://schemas.microsoft.com/office/drawing/2014/main" id="{164BFE7B-0CB8-ABD4-A0D6-7BF503EEB29C}"/>
              </a:ext>
            </a:extLst>
          </p:cNvPr>
          <p:cNvSpPr txBox="1">
            <a:spLocks/>
          </p:cNvSpPr>
          <p:nvPr/>
        </p:nvSpPr>
        <p:spPr>
          <a:xfrm>
            <a:off x="598121" y="3289267"/>
            <a:ext cx="4187239" cy="17094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u="sng" dirty="0">
                <a:solidFill>
                  <a:schemeClr val="accent1">
                    <a:lumMod val="10000"/>
                    <a:lumOff val="90000"/>
                  </a:schemeClr>
                </a:solidFill>
                <a:latin typeface="Arial" panose="020B0604020202020204" pitchFamily="34" charset="0"/>
              </a:rPr>
              <a:t>DSN4098 Project Exhibition</a:t>
            </a:r>
          </a:p>
          <a:p>
            <a:pPr algn="l"/>
            <a:r>
              <a:rPr lang="en-IN" sz="2000" b="1" u="sng" dirty="0">
                <a:solidFill>
                  <a:schemeClr val="accent1">
                    <a:lumMod val="10000"/>
                    <a:lumOff val="90000"/>
                  </a:schemeClr>
                </a:solidFill>
                <a:latin typeface="Arial" panose="020B0604020202020204" pitchFamily="34" charset="0"/>
              </a:rPr>
              <a:t> </a:t>
            </a:r>
          </a:p>
          <a:p>
            <a:pPr algn="l"/>
            <a:r>
              <a:rPr lang="en-IN" sz="2000" b="1" u="sng" dirty="0">
                <a:solidFill>
                  <a:schemeClr val="accent1">
                    <a:lumMod val="10000"/>
                    <a:lumOff val="90000"/>
                  </a:schemeClr>
                </a:solidFill>
                <a:latin typeface="Arial" panose="020B0604020202020204" pitchFamily="34" charset="0"/>
              </a:rPr>
              <a:t>Under the Guidance of: </a:t>
            </a:r>
          </a:p>
          <a:p>
            <a:pPr algn="l"/>
            <a:r>
              <a:rPr lang="en-IN" sz="1800" dirty="0">
                <a:solidFill>
                  <a:schemeClr val="accent1">
                    <a:lumMod val="10000"/>
                    <a:lumOff val="90000"/>
                  </a:schemeClr>
                </a:solidFill>
                <a:latin typeface="Arial" panose="020B0604020202020204" pitchFamily="34" charset="0"/>
              </a:rPr>
              <a:t>Dr Sukumar </a:t>
            </a:r>
          </a:p>
        </p:txBody>
      </p:sp>
      <p:pic>
        <p:nvPicPr>
          <p:cNvPr id="5" name="Google Shape;58;p13">
            <a:extLst>
              <a:ext uri="{FF2B5EF4-FFF2-40B4-BE49-F238E27FC236}">
                <a16:creationId xmlns:a16="http://schemas.microsoft.com/office/drawing/2014/main" id="{68B8F111-437A-9465-3FB3-274DB5470730}"/>
              </a:ext>
            </a:extLst>
          </p:cNvPr>
          <p:cNvPicPr preferRelativeResize="0"/>
          <p:nvPr/>
        </p:nvPicPr>
        <p:blipFill rotWithShape="1">
          <a:blip r:embed="rId2">
            <a:alphaModFix/>
          </a:blip>
          <a:srcRect b="27657"/>
          <a:stretch/>
        </p:blipFill>
        <p:spPr>
          <a:xfrm>
            <a:off x="0" y="447042"/>
            <a:ext cx="2751909" cy="1266306"/>
          </a:xfrm>
          <a:prstGeom prst="rect">
            <a:avLst/>
          </a:prstGeom>
          <a:noFill/>
          <a:ln>
            <a:noFill/>
          </a:ln>
        </p:spPr>
      </p:pic>
      <p:sp>
        <p:nvSpPr>
          <p:cNvPr id="6" name="Google Shape;59;p13">
            <a:extLst>
              <a:ext uri="{FF2B5EF4-FFF2-40B4-BE49-F238E27FC236}">
                <a16:creationId xmlns:a16="http://schemas.microsoft.com/office/drawing/2014/main" id="{42AA20DB-0CDD-A48B-CE04-97006D969751}"/>
              </a:ext>
            </a:extLst>
          </p:cNvPr>
          <p:cNvSpPr txBox="1"/>
          <p:nvPr/>
        </p:nvSpPr>
        <p:spPr>
          <a:xfrm>
            <a:off x="2586446" y="638088"/>
            <a:ext cx="9431382" cy="933018"/>
          </a:xfrm>
          <a:prstGeom prst="rect">
            <a:avLst/>
          </a:prstGeom>
          <a:noFill/>
          <a:ln>
            <a:noFill/>
          </a:ln>
        </p:spPr>
        <p:txBody>
          <a:bodyPr spcFirstLastPara="1" wrap="square" lIns="91425" tIns="91425" rIns="91425" bIns="91425" anchor="ctr" anchorCtr="0">
            <a:noAutofit/>
          </a:bodyPr>
          <a:lstStyle/>
          <a:p>
            <a:pPr algn="ctr" defTabSz="914400">
              <a:buClr>
                <a:srgbClr val="000000"/>
              </a:buClr>
              <a:buFont typeface="Arial"/>
              <a:buNone/>
            </a:pPr>
            <a:r>
              <a:rPr lang="en" sz="2400" b="1" kern="0" dirty="0">
                <a:solidFill>
                  <a:srgbClr val="212121"/>
                </a:solidFill>
                <a:latin typeface="Times New Roman"/>
                <a:ea typeface="Times New Roman"/>
                <a:cs typeface="Times New Roman"/>
                <a:sym typeface="Times New Roman"/>
              </a:rPr>
              <a:t>VIT Bhopal University</a:t>
            </a:r>
            <a:endParaRPr sz="2400" b="1" kern="0" dirty="0">
              <a:solidFill>
                <a:srgbClr val="212121"/>
              </a:solidFill>
              <a:latin typeface="Times New Roman"/>
              <a:ea typeface="Times New Roman"/>
              <a:cs typeface="Times New Roman"/>
              <a:sym typeface="Times New Roman"/>
            </a:endParaRPr>
          </a:p>
          <a:p>
            <a:pPr algn="ctr" defTabSz="914400">
              <a:buClr>
                <a:srgbClr val="000000"/>
              </a:buClr>
              <a:buFont typeface="Arial"/>
              <a:buNone/>
            </a:pPr>
            <a:r>
              <a:rPr lang="en" sz="2400" kern="0" dirty="0">
                <a:solidFill>
                  <a:srgbClr val="212121"/>
                </a:solidFill>
                <a:latin typeface="Times New Roman"/>
                <a:ea typeface="Times New Roman"/>
                <a:cs typeface="Times New Roman"/>
                <a:sym typeface="Times New Roman"/>
              </a:rPr>
              <a:t>Bhopal-Indore Highway, Kothri Kalan, Sehore, Madhya Pradesh – 466114.</a:t>
            </a:r>
            <a:endParaRPr sz="2400" kern="0" dirty="0">
              <a:solidFill>
                <a:srgbClr val="212121"/>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F49DC09E-971A-31EE-76C0-CD5743527720}"/>
              </a:ext>
            </a:extLst>
          </p:cNvPr>
          <p:cNvSpPr txBox="1"/>
          <p:nvPr/>
        </p:nvSpPr>
        <p:spPr>
          <a:xfrm>
            <a:off x="4085854" y="2481393"/>
            <a:ext cx="4020292" cy="584775"/>
          </a:xfrm>
          <a:prstGeom prst="rect">
            <a:avLst/>
          </a:prstGeom>
          <a:noFill/>
        </p:spPr>
        <p:txBody>
          <a:bodyPr wrap="square">
            <a:spAutoFit/>
          </a:bodyPr>
          <a:lstStyle/>
          <a:p>
            <a:r>
              <a:rPr lang="en-IN" sz="2800" dirty="0"/>
              <a:t> ~ Your </a:t>
            </a:r>
            <a:r>
              <a:rPr lang="en-IN" sz="3200" i="1" dirty="0"/>
              <a:t>one-stop platform </a:t>
            </a:r>
          </a:p>
        </p:txBody>
      </p:sp>
      <p:pic>
        <p:nvPicPr>
          <p:cNvPr id="7" name="Picture 6">
            <a:extLst>
              <a:ext uri="{FF2B5EF4-FFF2-40B4-BE49-F238E27FC236}">
                <a16:creationId xmlns:a16="http://schemas.microsoft.com/office/drawing/2014/main" id="{65E81F75-3777-8EA3-D8CD-CE95AF0B4A7C}"/>
              </a:ext>
            </a:extLst>
          </p:cNvPr>
          <p:cNvPicPr>
            <a:picLocks noChangeAspect="1"/>
          </p:cNvPicPr>
          <p:nvPr/>
        </p:nvPicPr>
        <p:blipFill rotWithShape="1">
          <a:blip r:embed="rId3">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329832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DF9-1967-3832-40DB-D28A9CEA98EC}"/>
              </a:ext>
            </a:extLst>
          </p:cNvPr>
          <p:cNvSpPr>
            <a:spLocks noGrp="1"/>
          </p:cNvSpPr>
          <p:nvPr>
            <p:ph type="title"/>
          </p:nvPr>
        </p:nvSpPr>
        <p:spPr>
          <a:xfrm>
            <a:off x="613756" y="801188"/>
            <a:ext cx="10515600" cy="940525"/>
          </a:xfrm>
        </p:spPr>
        <p:txBody>
          <a:bodyPr>
            <a:normAutofit/>
          </a:bodyPr>
          <a:lstStyle/>
          <a:p>
            <a:r>
              <a:rPr lang="en-IN" sz="4800" dirty="0"/>
              <a:t>What is </a:t>
            </a:r>
            <a:r>
              <a:rPr lang="en-IN" sz="4800" i="1" cap="none" dirty="0" err="1"/>
              <a:t>Comparelo</a:t>
            </a:r>
            <a:r>
              <a:rPr lang="en-IN" sz="4800" dirty="0"/>
              <a:t> ?</a:t>
            </a:r>
          </a:p>
        </p:txBody>
      </p:sp>
      <p:sp>
        <p:nvSpPr>
          <p:cNvPr id="3" name="TextBox 2">
            <a:extLst>
              <a:ext uri="{FF2B5EF4-FFF2-40B4-BE49-F238E27FC236}">
                <a16:creationId xmlns:a16="http://schemas.microsoft.com/office/drawing/2014/main" id="{0B1FC87B-C907-8177-7993-920667D22CB3}"/>
              </a:ext>
            </a:extLst>
          </p:cNvPr>
          <p:cNvSpPr txBox="1"/>
          <p:nvPr/>
        </p:nvSpPr>
        <p:spPr>
          <a:xfrm>
            <a:off x="153705" y="2002952"/>
            <a:ext cx="6865403" cy="1938992"/>
          </a:xfrm>
          <a:prstGeom prst="rect">
            <a:avLst/>
          </a:prstGeom>
          <a:noFill/>
        </p:spPr>
        <p:txBody>
          <a:bodyPr wrap="square" lIns="91440" tIns="45720" rIns="91440" bIns="45720" rtlCol="0" anchor="t">
            <a:spAutoFit/>
          </a:bodyPr>
          <a:lstStyle/>
          <a:p>
            <a:r>
              <a:rPr lang="en-US" sz="2400" dirty="0"/>
              <a:t>In today's hectic environment, we think It might be a tedious and prolonged process to compare several things online for hours. But what if you could compare more than two things in a single website?</a:t>
            </a:r>
            <a:endParaRPr lang="en-US" sz="2400" dirty="0">
              <a:ea typeface="Calibri"/>
              <a:cs typeface="Calibri"/>
            </a:endParaRPr>
          </a:p>
          <a:p>
            <a:endParaRPr lang="en-US" sz="2400" b="1" dirty="0">
              <a:ea typeface="Calibri"/>
              <a:cs typeface="Calibri"/>
            </a:endParaRPr>
          </a:p>
        </p:txBody>
      </p:sp>
      <p:pic>
        <p:nvPicPr>
          <p:cNvPr id="4" name="Picture 3">
            <a:extLst>
              <a:ext uri="{FF2B5EF4-FFF2-40B4-BE49-F238E27FC236}">
                <a16:creationId xmlns:a16="http://schemas.microsoft.com/office/drawing/2014/main" id="{C3F529D1-50B3-6593-6CE4-B0AEA0B133D8}"/>
              </a:ext>
            </a:extLst>
          </p:cNvPr>
          <p:cNvPicPr>
            <a:picLocks noChangeAspect="1"/>
          </p:cNvPicPr>
          <p:nvPr/>
        </p:nvPicPr>
        <p:blipFill>
          <a:blip r:embed="rId2"/>
          <a:stretch>
            <a:fillRect/>
          </a:stretch>
        </p:blipFill>
        <p:spPr>
          <a:xfrm>
            <a:off x="7019108" y="1892575"/>
            <a:ext cx="3477770" cy="2159746"/>
          </a:xfrm>
          <a:prstGeom prst="rect">
            <a:avLst/>
          </a:prstGeom>
        </p:spPr>
      </p:pic>
      <p:pic>
        <p:nvPicPr>
          <p:cNvPr id="5" name="Picture 4">
            <a:extLst>
              <a:ext uri="{FF2B5EF4-FFF2-40B4-BE49-F238E27FC236}">
                <a16:creationId xmlns:a16="http://schemas.microsoft.com/office/drawing/2014/main" id="{DA9635AB-7EBA-0BFB-667C-24B30A1DFEA0}"/>
              </a:ext>
            </a:extLst>
          </p:cNvPr>
          <p:cNvPicPr>
            <a:picLocks noChangeAspect="1"/>
          </p:cNvPicPr>
          <p:nvPr/>
        </p:nvPicPr>
        <p:blipFill>
          <a:blip r:embed="rId3"/>
          <a:stretch>
            <a:fillRect/>
          </a:stretch>
        </p:blipFill>
        <p:spPr>
          <a:xfrm>
            <a:off x="7915090" y="4052321"/>
            <a:ext cx="3989527" cy="2805678"/>
          </a:xfrm>
          <a:prstGeom prst="rect">
            <a:avLst/>
          </a:prstGeom>
          <a:solidFill>
            <a:schemeClr val="accent2">
              <a:lumMod val="20000"/>
              <a:lumOff val="80000"/>
            </a:schemeClr>
          </a:solidFill>
        </p:spPr>
      </p:pic>
      <p:sp>
        <p:nvSpPr>
          <p:cNvPr id="9" name="TextBox 8">
            <a:extLst>
              <a:ext uri="{FF2B5EF4-FFF2-40B4-BE49-F238E27FC236}">
                <a16:creationId xmlns:a16="http://schemas.microsoft.com/office/drawing/2014/main" id="{A0A1FAFD-DFEB-FA54-FA09-36C6F0F3BF6F}"/>
              </a:ext>
            </a:extLst>
          </p:cNvPr>
          <p:cNvSpPr txBox="1"/>
          <p:nvPr/>
        </p:nvSpPr>
        <p:spPr>
          <a:xfrm>
            <a:off x="153705" y="3603046"/>
            <a:ext cx="6865403"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1" noProof="0" dirty="0" err="1">
                <a:solidFill>
                  <a:prstClr val="black"/>
                </a:solidFill>
                <a:latin typeface="Gill Sans MT" panose="020B0502020104020203"/>
              </a:rPr>
              <a:t>Comparelo</a:t>
            </a:r>
            <a:r>
              <a:rPr lang="en-US" sz="2400" noProof="0" dirty="0">
                <a:solidFill>
                  <a:prstClr val="black"/>
                </a:solidFill>
                <a:latin typeface="Gill Sans MT" panose="020B0502020104020203"/>
              </a:rPr>
              <a:t> </a:t>
            </a:r>
            <a:r>
              <a:rPr kumimoji="0" lang="en-US" sz="2400" b="0" i="0" u="none" strike="noStrike" kern="1200" cap="none" spc="0" normalizeH="0" baseline="0" noProof="0" dirty="0">
                <a:ln>
                  <a:noFill/>
                </a:ln>
                <a:solidFill>
                  <a:prstClr val="black"/>
                </a:solidFill>
                <a:effectLst/>
                <a:uLnTx/>
                <a:uFillTx/>
                <a:latin typeface="Gill Sans MT" panose="020B0502020104020203"/>
                <a:ea typeface="+mn-ea"/>
                <a:cs typeface="+mn-cs"/>
              </a:rPr>
              <a:t>is a platform that would completely change the way we compare items. With so many alternatives available to us, it's critical that we have a tool that can assist us in making informed selections quickly and efficiently. This presentation will explore how an intuitive website interface can maximize consumer decision-making potential by efficiently comparing products.</a:t>
            </a:r>
          </a:p>
        </p:txBody>
      </p:sp>
      <p:pic>
        <p:nvPicPr>
          <p:cNvPr id="6" name="Picture 5">
            <a:extLst>
              <a:ext uri="{FF2B5EF4-FFF2-40B4-BE49-F238E27FC236}">
                <a16:creationId xmlns:a16="http://schemas.microsoft.com/office/drawing/2014/main" id="{9F5B8A16-7700-F520-2363-58C5AC5DE7F5}"/>
              </a:ext>
            </a:extLst>
          </p:cNvPr>
          <p:cNvPicPr>
            <a:picLocks noChangeAspect="1"/>
          </p:cNvPicPr>
          <p:nvPr/>
        </p:nvPicPr>
        <p:blipFill rotWithShape="1">
          <a:blip r:embed="rId4">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653763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l="-3000" r="-3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E7B63E-5304-84A1-C5CD-976D2CEB1DA4}"/>
              </a:ext>
            </a:extLst>
          </p:cNvPr>
          <p:cNvSpPr txBox="1"/>
          <p:nvPr/>
        </p:nvSpPr>
        <p:spPr>
          <a:xfrm>
            <a:off x="776132" y="2090876"/>
            <a:ext cx="10639734" cy="5262979"/>
          </a:xfrm>
          <a:prstGeom prst="rect">
            <a:avLst/>
          </a:prstGeom>
          <a:noFill/>
        </p:spPr>
        <p:txBody>
          <a:bodyPr wrap="square" lIns="91440" tIns="45720" rIns="91440" bIns="45720" rtlCol="0" anchor="t">
            <a:spAutoFit/>
          </a:bodyPr>
          <a:lstStyle/>
          <a:p>
            <a:pPr algn="ctr"/>
            <a:r>
              <a:rPr lang="en-US" sz="2400" b="1" dirty="0">
                <a:latin typeface="Bahnschrift SemiBold" panose="020B0502040204020203" pitchFamily="34" charset="0"/>
              </a:rPr>
              <a:t>Problem: Consumers are faced with an overwhelming number of options when making purchasing decisions. Whether it is a price or quality comparison, people switch between multiple sites to get the best deal.</a:t>
            </a:r>
          </a:p>
          <a:p>
            <a:pPr algn="ctr"/>
            <a:endParaRPr lang="en-US" sz="2400" b="1" dirty="0">
              <a:latin typeface="Bahnschrift SemiBold" panose="020B0502040204020203" pitchFamily="34" charset="0"/>
            </a:endParaRPr>
          </a:p>
          <a:p>
            <a:pPr algn="ctr"/>
            <a:r>
              <a:rPr lang="en-US" sz="2400" b="1" dirty="0">
                <a:latin typeface="Bahnschrift SemiBold" panose="020B0502040204020203" pitchFamily="34" charset="0"/>
              </a:rPr>
              <a:t>The main objective of our project is to allow users to compare multiple products side-by-side in a single website, we solve the problem of information overload and make it easy to make informed purchasing decisions. </a:t>
            </a:r>
          </a:p>
          <a:p>
            <a:pPr algn="ctr"/>
            <a:endParaRPr lang="en-US" sz="2400" b="1" dirty="0">
              <a:latin typeface="Bahnschrift SemiBold" panose="020B0502040204020203" pitchFamily="34" charset="0"/>
            </a:endParaRPr>
          </a:p>
          <a:p>
            <a:pPr algn="ctr"/>
            <a:r>
              <a:rPr lang="en-US" sz="2400" b="1" dirty="0">
                <a:latin typeface="Bahnschrift SemiBold" panose="020B0502040204020203" pitchFamily="34" charset="0"/>
              </a:rPr>
              <a:t>With our website users can quickly and easily compare products based on their specific needs and preferences. This is not only convenient for consumers, but also for businesses that need to compare multiple products for procurement purposes.</a:t>
            </a:r>
          </a:p>
          <a:p>
            <a:endParaRPr lang="en-US" sz="2400" b="1" dirty="0">
              <a:latin typeface="Bahnschrift SemiBold" panose="020B0502040204020203" pitchFamily="34" charset="0"/>
              <a:ea typeface="Calibri"/>
              <a:cs typeface="Calibri"/>
            </a:endParaRPr>
          </a:p>
        </p:txBody>
      </p:sp>
      <p:sp>
        <p:nvSpPr>
          <p:cNvPr id="4" name="Rectangle 3">
            <a:extLst>
              <a:ext uri="{FF2B5EF4-FFF2-40B4-BE49-F238E27FC236}">
                <a16:creationId xmlns:a16="http://schemas.microsoft.com/office/drawing/2014/main" id="{B72AFF4A-6A22-195E-5253-CE00EDBEF1A0}"/>
              </a:ext>
            </a:extLst>
          </p:cNvPr>
          <p:cNvSpPr/>
          <p:nvPr/>
        </p:nvSpPr>
        <p:spPr>
          <a:xfrm>
            <a:off x="992832" y="966651"/>
            <a:ext cx="10206335" cy="1015663"/>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000" dirty="0">
                <a:ln w="0"/>
                <a:solidFill>
                  <a:schemeClr val="accent1"/>
                </a:solidFill>
                <a:effectLst>
                  <a:outerShdw blurRad="38100" dist="25400" dir="5400000" algn="ctr" rotWithShape="0">
                    <a:srgbClr val="6E747A">
                      <a:alpha val="43000"/>
                    </a:srgbClr>
                  </a:outerShdw>
                </a:effectLst>
              </a:rPr>
              <a:t>Objective/Problem statement</a:t>
            </a:r>
            <a:r>
              <a:rPr lang="en-US" sz="4000" b="1" dirty="0">
                <a:ln/>
                <a:solidFill>
                  <a:schemeClr val="accent3"/>
                </a:solidFill>
              </a:rPr>
              <a:t> </a:t>
            </a:r>
          </a:p>
        </p:txBody>
      </p:sp>
      <p:pic>
        <p:nvPicPr>
          <p:cNvPr id="3" name="Picture 2">
            <a:extLst>
              <a:ext uri="{FF2B5EF4-FFF2-40B4-BE49-F238E27FC236}">
                <a16:creationId xmlns:a16="http://schemas.microsoft.com/office/drawing/2014/main" id="{34E3D847-91AD-FF42-BC0E-A2BC44D332C9}"/>
              </a:ext>
            </a:extLst>
          </p:cNvPr>
          <p:cNvPicPr>
            <a:picLocks noChangeAspect="1"/>
          </p:cNvPicPr>
          <p:nvPr/>
        </p:nvPicPr>
        <p:blipFill rotWithShape="1">
          <a:blip r:embed="rId3">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881648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48680-C528-F078-1178-4E1CEB6A095A}"/>
              </a:ext>
            </a:extLst>
          </p:cNvPr>
          <p:cNvSpPr>
            <a:spLocks noGrp="1"/>
          </p:cNvSpPr>
          <p:nvPr>
            <p:ph type="title"/>
          </p:nvPr>
        </p:nvSpPr>
        <p:spPr>
          <a:xfrm>
            <a:off x="545414" y="709338"/>
            <a:ext cx="5428666" cy="988332"/>
          </a:xfrm>
        </p:spPr>
        <p:txBody>
          <a:bodyPr>
            <a:noAutofit/>
          </a:bodyPr>
          <a:lstStyle/>
          <a:p>
            <a:r>
              <a:rPr lang="en-IN" sz="4000" dirty="0"/>
              <a:t>Literature review</a:t>
            </a:r>
          </a:p>
        </p:txBody>
      </p:sp>
      <p:sp>
        <p:nvSpPr>
          <p:cNvPr id="4" name="TextBox 3">
            <a:extLst>
              <a:ext uri="{FF2B5EF4-FFF2-40B4-BE49-F238E27FC236}">
                <a16:creationId xmlns:a16="http://schemas.microsoft.com/office/drawing/2014/main" id="{18D5FABB-AF68-357F-4809-28F743D7F901}"/>
              </a:ext>
            </a:extLst>
          </p:cNvPr>
          <p:cNvSpPr txBox="1"/>
          <p:nvPr/>
        </p:nvSpPr>
        <p:spPr>
          <a:xfrm>
            <a:off x="178525" y="1945150"/>
            <a:ext cx="11834949" cy="4801314"/>
          </a:xfrm>
          <a:prstGeom prst="rect">
            <a:avLst/>
          </a:prstGeom>
          <a:noFill/>
        </p:spPr>
        <p:txBody>
          <a:bodyPr wrap="square">
            <a:spAutoFit/>
          </a:bodyPr>
          <a:lstStyle/>
          <a:p>
            <a:pPr algn="just"/>
            <a:r>
              <a:rPr lang="en-US" dirty="0">
                <a:latin typeface="Cambria" panose="02040503050406030204" pitchFamily="18" charset="0"/>
                <a:ea typeface="Cambria" panose="02040503050406030204" pitchFamily="18" charset="0"/>
              </a:rPr>
              <a:t>Websites that compare products have grown to be an important component of the e-commerce industry, helping customers to make wise purchases. This review examines how these platforms function, their advantages, and their difficulties as mentioned in pertinent academic literature.</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Consumer Empowerment: </a:t>
            </a:r>
            <a:r>
              <a:rPr lang="en-US" dirty="0">
                <a:latin typeface="Cambria" panose="02040503050406030204" pitchFamily="18" charset="0"/>
                <a:ea typeface="Cambria" panose="02040503050406030204" pitchFamily="18" charset="0"/>
              </a:rPr>
              <a:t>Research suggests that product comparison websites empower consumers by providing them with a wealth of product information, allowing them to compare features, specifications, and user reviews, thus increasing their confidence in decision-making (Hossain et al., 2015; Feinberg et al., 2014).</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Price Transparency:</a:t>
            </a:r>
            <a:r>
              <a:rPr lang="en-US" dirty="0">
                <a:latin typeface="Cambria" panose="02040503050406030204" pitchFamily="18" charset="0"/>
                <a:ea typeface="Cambria" panose="02040503050406030204" pitchFamily="18" charset="0"/>
              </a:rPr>
              <a:t> One of the primary benefits of product comparison websites is their ability to provide consumers with real-time pricing information from various retailers. Such platforms enable users to identify the best deals and discounts available (Ghose and Yang, 2009).</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Time-Saving: </a:t>
            </a:r>
            <a:r>
              <a:rPr lang="en-US" dirty="0">
                <a:latin typeface="Cambria" panose="02040503050406030204" pitchFamily="18" charset="0"/>
                <a:ea typeface="Cambria" panose="02040503050406030204" pitchFamily="18" charset="0"/>
              </a:rPr>
              <a:t>The convenience of having product data aggregated in one place saves consumers time that would otherwise be spent navigating multiple retail websites (Moe and </a:t>
            </a:r>
            <a:r>
              <a:rPr lang="en-US" dirty="0" err="1">
                <a:latin typeface="Cambria" panose="02040503050406030204" pitchFamily="18" charset="0"/>
                <a:ea typeface="Cambria" panose="02040503050406030204" pitchFamily="18" charset="0"/>
              </a:rPr>
              <a:t>Trusov</a:t>
            </a:r>
            <a:r>
              <a:rPr lang="en-US" dirty="0">
                <a:latin typeface="Cambria" panose="02040503050406030204" pitchFamily="18" charset="0"/>
                <a:ea typeface="Cambria" panose="02040503050406030204" pitchFamily="18" charset="0"/>
              </a:rPr>
              <a:t>, 2011).</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Trust and Credibility: </a:t>
            </a:r>
            <a:r>
              <a:rPr lang="en-US" dirty="0">
                <a:latin typeface="Cambria" panose="02040503050406030204" pitchFamily="18" charset="0"/>
                <a:ea typeface="Cambria" panose="02040503050406030204" pitchFamily="18" charset="0"/>
              </a:rPr>
              <a:t>Reviews and ratings contributed by users on these platforms enhance trust and credibility. Shoppers often rely on peer reviews to validate their purchase decisions (</a:t>
            </a:r>
            <a:r>
              <a:rPr lang="en-US" dirty="0" err="1">
                <a:latin typeface="Cambria" panose="02040503050406030204" pitchFamily="18" charset="0"/>
                <a:ea typeface="Cambria" panose="02040503050406030204" pitchFamily="18" charset="0"/>
              </a:rPr>
              <a:t>Dellarocas</a:t>
            </a:r>
            <a:r>
              <a:rPr lang="en-US" dirty="0">
                <a:latin typeface="Cambria" panose="02040503050406030204" pitchFamily="18" charset="0"/>
                <a:ea typeface="Cambria" panose="02040503050406030204" pitchFamily="18" charset="0"/>
              </a:rPr>
              <a:t> et al., 2007).</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Data Accuracy: </a:t>
            </a:r>
            <a:r>
              <a:rPr lang="en-US" dirty="0">
                <a:latin typeface="Cambria" panose="02040503050406030204" pitchFamily="18" charset="0"/>
                <a:ea typeface="Cambria" panose="02040503050406030204" pitchFamily="18" charset="0"/>
              </a:rPr>
              <a:t>Data accuracy and completeness are key concerns. Product information is often scraped from various sources, leading to potential discrepancies in descriptions, availability, or pricing (</a:t>
            </a:r>
            <a:r>
              <a:rPr lang="en-US" dirty="0" err="1">
                <a:latin typeface="Cambria" panose="02040503050406030204" pitchFamily="18" charset="0"/>
                <a:ea typeface="Cambria" panose="02040503050406030204" pitchFamily="18" charset="0"/>
              </a:rPr>
              <a:t>Kamishima</a:t>
            </a:r>
            <a:r>
              <a:rPr lang="en-US" dirty="0">
                <a:latin typeface="Cambria" panose="02040503050406030204" pitchFamily="18" charset="0"/>
                <a:ea typeface="Cambria" panose="02040503050406030204" pitchFamily="18" charset="0"/>
              </a:rPr>
              <a:t> et al., 2013).</a:t>
            </a:r>
          </a:p>
          <a:p>
            <a:pPr marL="342900" indent="-342900" algn="just">
              <a:buFont typeface="Wingdings" panose="05000000000000000000" pitchFamily="2" charset="2"/>
              <a:buChar char="v"/>
            </a:pPr>
            <a:r>
              <a:rPr lang="en-US" b="1" dirty="0">
                <a:latin typeface="Cambria" panose="02040503050406030204" pitchFamily="18" charset="0"/>
                <a:ea typeface="Cambria" panose="02040503050406030204" pitchFamily="18" charset="0"/>
              </a:rPr>
              <a:t>Review Manipulation: </a:t>
            </a:r>
            <a:r>
              <a:rPr lang="en-US" dirty="0">
                <a:latin typeface="Cambria" panose="02040503050406030204" pitchFamily="18" charset="0"/>
                <a:ea typeface="Cambria" panose="02040503050406030204" pitchFamily="18" charset="0"/>
              </a:rPr>
              <a:t>Some users and retailers engage in review manipulation, posting fake reviews or biased feedback that can mislead consumers (Jindal and Liu, 2007).</a:t>
            </a:r>
            <a:endParaRPr lang="en-IN"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777970B-ABC5-11E7-615E-8BAD5186EA15}"/>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788780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1BAD2F-F3D5-54B1-E47B-768B97E9C1F5}"/>
              </a:ext>
            </a:extLst>
          </p:cNvPr>
          <p:cNvSpPr txBox="1"/>
          <p:nvPr/>
        </p:nvSpPr>
        <p:spPr>
          <a:xfrm>
            <a:off x="2534195" y="619873"/>
            <a:ext cx="7381966" cy="646331"/>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r>
              <a:rPr lang="en-IN" sz="3600" b="1" i="1" dirty="0">
                <a:solidFill>
                  <a:schemeClr val="accent1"/>
                </a:solidFill>
                <a:latin typeface="Algerian" panose="04020705040A02060702" pitchFamily="82" charset="0"/>
              </a:rPr>
              <a:t>Existing work with limitation</a:t>
            </a:r>
          </a:p>
        </p:txBody>
      </p:sp>
      <p:sp>
        <p:nvSpPr>
          <p:cNvPr id="5" name="TextBox 4">
            <a:extLst>
              <a:ext uri="{FF2B5EF4-FFF2-40B4-BE49-F238E27FC236}">
                <a16:creationId xmlns:a16="http://schemas.microsoft.com/office/drawing/2014/main" id="{BD82BBF7-D910-63A0-D57D-0AE472F34234}"/>
              </a:ext>
            </a:extLst>
          </p:cNvPr>
          <p:cNvSpPr txBox="1"/>
          <p:nvPr/>
        </p:nvSpPr>
        <p:spPr>
          <a:xfrm>
            <a:off x="470262" y="1496263"/>
            <a:ext cx="11251475" cy="92333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b="1" dirty="0"/>
              <a:t>Google Shopping:</a:t>
            </a:r>
          </a:p>
          <a:p>
            <a:r>
              <a:rPr lang="en-US" dirty="0"/>
              <a:t>Limitation: Google Shopping primarily relies on data provided by retailers and advertisers. This can lead to discrepancies in pricing and product availability, as well as limited coverage of smaller or niche retailers.</a:t>
            </a:r>
          </a:p>
        </p:txBody>
      </p:sp>
      <p:sp>
        <p:nvSpPr>
          <p:cNvPr id="7" name="TextBox 6">
            <a:extLst>
              <a:ext uri="{FF2B5EF4-FFF2-40B4-BE49-F238E27FC236}">
                <a16:creationId xmlns:a16="http://schemas.microsoft.com/office/drawing/2014/main" id="{D6DBF077-806A-8B92-F7E8-7E5F441FB54F}"/>
              </a:ext>
            </a:extLst>
          </p:cNvPr>
          <p:cNvSpPr txBox="1"/>
          <p:nvPr/>
        </p:nvSpPr>
        <p:spPr>
          <a:xfrm>
            <a:off x="470262" y="5441559"/>
            <a:ext cx="11251474" cy="92333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b="1" dirty="0"/>
              <a:t>PriceGrabber:</a:t>
            </a:r>
          </a:p>
          <a:p>
            <a:r>
              <a:rPr lang="en-US" dirty="0"/>
              <a:t>Limitation: While PriceGrabber offers price comparison, its user reviews and ratings may not always be comprehensive or up-to-date, impacting the reliability of user-generated content.</a:t>
            </a:r>
          </a:p>
        </p:txBody>
      </p:sp>
      <p:sp>
        <p:nvSpPr>
          <p:cNvPr id="9" name="TextBox 8">
            <a:extLst>
              <a:ext uri="{FF2B5EF4-FFF2-40B4-BE49-F238E27FC236}">
                <a16:creationId xmlns:a16="http://schemas.microsoft.com/office/drawing/2014/main" id="{9F2FEA27-30C4-42D7-D7A3-F3DD273BF1E7}"/>
              </a:ext>
            </a:extLst>
          </p:cNvPr>
          <p:cNvSpPr txBox="1"/>
          <p:nvPr/>
        </p:nvSpPr>
        <p:spPr>
          <a:xfrm>
            <a:off x="470261" y="4161407"/>
            <a:ext cx="11373394" cy="92333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b="1" dirty="0" err="1"/>
              <a:t>Shopzilla</a:t>
            </a:r>
            <a:r>
              <a:rPr lang="en-US" b="1" dirty="0"/>
              <a:t>:</a:t>
            </a:r>
          </a:p>
          <a:p>
            <a:r>
              <a:rPr lang="en-US" dirty="0"/>
              <a:t>Limitation: </a:t>
            </a:r>
            <a:r>
              <a:rPr lang="en-US" dirty="0" err="1"/>
              <a:t>Shopzilla</a:t>
            </a:r>
            <a:r>
              <a:rPr lang="en-US" dirty="0"/>
              <a:t> focuses on product listings and price comparisons but may lack advanced features such as personalized recommendations and real-time inventory status.</a:t>
            </a:r>
          </a:p>
        </p:txBody>
      </p:sp>
      <p:sp>
        <p:nvSpPr>
          <p:cNvPr id="11" name="TextBox 10">
            <a:extLst>
              <a:ext uri="{FF2B5EF4-FFF2-40B4-BE49-F238E27FC236}">
                <a16:creationId xmlns:a16="http://schemas.microsoft.com/office/drawing/2014/main" id="{472CCC21-D0B9-44AD-11D1-006E658EC28F}"/>
              </a:ext>
            </a:extLst>
          </p:cNvPr>
          <p:cNvSpPr txBox="1"/>
          <p:nvPr/>
        </p:nvSpPr>
        <p:spPr>
          <a:xfrm>
            <a:off x="470261" y="2868746"/>
            <a:ext cx="11251475" cy="92333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b="1" dirty="0" err="1"/>
              <a:t>ShopSavvy</a:t>
            </a:r>
            <a:r>
              <a:rPr lang="en-US" b="1" dirty="0"/>
              <a:t>:</a:t>
            </a:r>
          </a:p>
          <a:p>
            <a:r>
              <a:rPr lang="en-US" dirty="0"/>
              <a:t>Limitation: </a:t>
            </a:r>
            <a:r>
              <a:rPr lang="en-US" dirty="0" err="1"/>
              <a:t>ShopSavvy</a:t>
            </a:r>
            <a:r>
              <a:rPr lang="en-US" dirty="0"/>
              <a:t> primarily caters to mobile users. While this is beneficial for on-the-go shopping, it may not offer the same level of detail and functionality as web-based comparison websites.</a:t>
            </a:r>
            <a:endParaRPr lang="en-IN" dirty="0"/>
          </a:p>
        </p:txBody>
      </p:sp>
      <p:pic>
        <p:nvPicPr>
          <p:cNvPr id="2" name="Picture 1">
            <a:extLst>
              <a:ext uri="{FF2B5EF4-FFF2-40B4-BE49-F238E27FC236}">
                <a16:creationId xmlns:a16="http://schemas.microsoft.com/office/drawing/2014/main" id="{634C7A4F-01F8-BD20-DA3C-A3BAA0A03DB4}"/>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3217347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E7B63E-5304-84A1-C5CD-976D2CEB1DA4}"/>
              </a:ext>
            </a:extLst>
          </p:cNvPr>
          <p:cNvSpPr txBox="1"/>
          <p:nvPr/>
        </p:nvSpPr>
        <p:spPr>
          <a:xfrm>
            <a:off x="372824" y="1819754"/>
            <a:ext cx="11446348" cy="3354765"/>
          </a:xfrm>
          <a:prstGeom prst="rect">
            <a:avLst/>
          </a:prstGeom>
          <a:noFill/>
        </p:spPr>
        <p:txBody>
          <a:bodyPr wrap="square" lIns="91440" tIns="45720" rIns="91440" bIns="45720" rtlCol="0" anchor="t">
            <a:spAutoFit/>
          </a:bodyPr>
          <a:lstStyle/>
          <a:p>
            <a:r>
              <a:rPr lang="en-US" sz="2400" b="1" i="1" u="sng" dirty="0">
                <a:latin typeface="Cambria" panose="02040503050406030204" pitchFamily="18" charset="0"/>
                <a:ea typeface="Cambria" panose="02040503050406030204" pitchFamily="18" charset="0"/>
                <a:cs typeface="Calibri"/>
              </a:rPr>
              <a:t>Real-Time Data Updates:</a:t>
            </a:r>
          </a:p>
          <a:p>
            <a:r>
              <a:rPr lang="en-US" sz="2400" u="sng" dirty="0">
                <a:latin typeface="Cambria" panose="02040503050406030204" pitchFamily="18" charset="0"/>
                <a:ea typeface="Cambria" panose="02040503050406030204" pitchFamily="18" charset="0"/>
                <a:cs typeface="Calibri"/>
              </a:rPr>
              <a:t>Goal: </a:t>
            </a:r>
            <a:r>
              <a:rPr lang="en-US" sz="2400" dirty="0">
                <a:latin typeface="Cambria" panose="02040503050406030204" pitchFamily="18" charset="0"/>
                <a:ea typeface="Cambria" panose="02040503050406030204" pitchFamily="18" charset="0"/>
                <a:cs typeface="Calibri"/>
              </a:rPr>
              <a:t>Provide users with up-to-the-minute information.</a:t>
            </a:r>
          </a:p>
          <a:p>
            <a:r>
              <a:rPr lang="en-US" sz="2400" u="sng" dirty="0">
                <a:latin typeface="Cambria" panose="02040503050406030204" pitchFamily="18" charset="0"/>
                <a:ea typeface="Cambria" panose="02040503050406030204" pitchFamily="18" charset="0"/>
                <a:cs typeface="Calibri"/>
              </a:rPr>
              <a:t>Approach</a:t>
            </a:r>
            <a:r>
              <a:rPr lang="en-US" sz="2400" dirty="0">
                <a:latin typeface="Cambria" panose="02040503050406030204" pitchFamily="18" charset="0"/>
                <a:ea typeface="Cambria" panose="02040503050406030204" pitchFamily="18" charset="0"/>
                <a:cs typeface="Calibri"/>
              </a:rPr>
              <a:t>: Implement real-time data scraping and updates to ensure that product prices and availability are continuously accurate.</a:t>
            </a:r>
          </a:p>
          <a:p>
            <a:endParaRPr lang="en-US" sz="2400" i="1" dirty="0">
              <a:latin typeface="Cambria" panose="02040503050406030204" pitchFamily="18" charset="0"/>
              <a:ea typeface="Cambria" panose="02040503050406030204" pitchFamily="18" charset="0"/>
              <a:cs typeface="Calibri"/>
            </a:endParaRPr>
          </a:p>
          <a:p>
            <a:r>
              <a:rPr lang="en-US" sz="2400" b="1" i="1" u="sng" dirty="0">
                <a:latin typeface="Cambria" panose="02040503050406030204" pitchFamily="18" charset="0"/>
                <a:ea typeface="Cambria" panose="02040503050406030204" pitchFamily="18" charset="0"/>
                <a:cs typeface="Calibri"/>
              </a:rPr>
              <a:t>Enhanced User Experience: </a:t>
            </a:r>
            <a:r>
              <a:rPr lang="en-US" sz="2400" dirty="0">
                <a:latin typeface="Cambria" panose="02040503050406030204" pitchFamily="18" charset="0"/>
                <a:ea typeface="Cambria" panose="02040503050406030204" pitchFamily="18" charset="0"/>
                <a:cs typeface="Calibri"/>
              </a:rPr>
              <a:t>User experience will be a focal point, with a user-friendly interface, intuitive navigation, and responsive design to ensure seamless usage on both desktop and mobile devices.</a:t>
            </a:r>
          </a:p>
          <a:p>
            <a:endParaRPr lang="en-US" sz="2000" dirty="0">
              <a:latin typeface="Cambria" panose="02040503050406030204" pitchFamily="18" charset="0"/>
              <a:ea typeface="Cambria" panose="02040503050406030204" pitchFamily="18" charset="0"/>
              <a:cs typeface="Calibri"/>
            </a:endParaRPr>
          </a:p>
        </p:txBody>
      </p:sp>
      <p:sp>
        <p:nvSpPr>
          <p:cNvPr id="4" name="Rectangle 3">
            <a:extLst>
              <a:ext uri="{FF2B5EF4-FFF2-40B4-BE49-F238E27FC236}">
                <a16:creationId xmlns:a16="http://schemas.microsoft.com/office/drawing/2014/main" id="{B72AFF4A-6A22-195E-5253-CE00EDBEF1A0}"/>
              </a:ext>
            </a:extLst>
          </p:cNvPr>
          <p:cNvSpPr/>
          <p:nvPr/>
        </p:nvSpPr>
        <p:spPr>
          <a:xfrm>
            <a:off x="992830" y="285931"/>
            <a:ext cx="10206335" cy="1015663"/>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000" dirty="0">
                <a:ln w="0"/>
                <a:solidFill>
                  <a:schemeClr val="accent1"/>
                </a:solidFill>
                <a:effectLst>
                  <a:outerShdw blurRad="38100" dist="25400" dir="5400000" algn="ctr" rotWithShape="0">
                    <a:srgbClr val="6E747A">
                      <a:alpha val="43000"/>
                    </a:srgbClr>
                  </a:outerShdw>
                </a:effectLst>
              </a:rPr>
              <a:t>Proposed Work</a:t>
            </a:r>
            <a:endParaRPr lang="en-US" sz="4000" b="1" dirty="0">
              <a:ln/>
              <a:solidFill>
                <a:schemeClr val="accent3"/>
              </a:solidFill>
            </a:endParaRPr>
          </a:p>
        </p:txBody>
      </p:sp>
      <p:pic>
        <p:nvPicPr>
          <p:cNvPr id="3" name="Picture 2">
            <a:extLst>
              <a:ext uri="{FF2B5EF4-FFF2-40B4-BE49-F238E27FC236}">
                <a16:creationId xmlns:a16="http://schemas.microsoft.com/office/drawing/2014/main" id="{DBD66299-7A30-0BE3-79CF-9F7888BED414}"/>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200968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E7B63E-5304-84A1-C5CD-976D2CEB1DA4}"/>
              </a:ext>
            </a:extLst>
          </p:cNvPr>
          <p:cNvSpPr txBox="1"/>
          <p:nvPr/>
        </p:nvSpPr>
        <p:spPr>
          <a:xfrm>
            <a:off x="329092" y="1643836"/>
            <a:ext cx="4984588" cy="1569660"/>
          </a:xfrm>
          <a:prstGeom prst="rect">
            <a:avLst/>
          </a:prstGeom>
          <a:noFill/>
        </p:spPr>
        <p:txBody>
          <a:bodyPr wrap="square" lIns="91440" tIns="45720" rIns="91440" bIns="45720" rtlCol="0" anchor="t">
            <a:spAutoFit/>
          </a:bodyPr>
          <a:lstStyle/>
          <a:p>
            <a:r>
              <a:rPr lang="en-US" sz="2400" b="1" u="sng" dirty="0">
                <a:latin typeface="Cambria" panose="02040503050406030204" pitchFamily="18" charset="0"/>
                <a:ea typeface="Cambria" panose="02040503050406030204" pitchFamily="18" charset="0"/>
                <a:cs typeface="Calibri"/>
              </a:rPr>
              <a:t>HARDWARE</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Web hosting server</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Database server</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User interface designing tool</a:t>
            </a:r>
            <a:endParaRPr lang="en-US" sz="2400" dirty="0">
              <a:latin typeface="Cambria" panose="02040503050406030204" pitchFamily="18" charset="0"/>
              <a:ea typeface="Cambria" panose="02040503050406030204" pitchFamily="18" charset="0"/>
              <a:cs typeface="Calibri"/>
            </a:endParaRPr>
          </a:p>
        </p:txBody>
      </p:sp>
      <p:sp>
        <p:nvSpPr>
          <p:cNvPr id="4" name="Rectangle 3">
            <a:extLst>
              <a:ext uri="{FF2B5EF4-FFF2-40B4-BE49-F238E27FC236}">
                <a16:creationId xmlns:a16="http://schemas.microsoft.com/office/drawing/2014/main" id="{B72AFF4A-6A22-195E-5253-CE00EDBEF1A0}"/>
              </a:ext>
            </a:extLst>
          </p:cNvPr>
          <p:cNvSpPr/>
          <p:nvPr/>
        </p:nvSpPr>
        <p:spPr>
          <a:xfrm>
            <a:off x="992831" y="590731"/>
            <a:ext cx="10206335"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w="0"/>
                <a:solidFill>
                  <a:schemeClr val="accent1"/>
                </a:solidFill>
                <a:effectLst>
                  <a:outerShdw blurRad="38100" dist="25400" dir="5400000" algn="ctr" rotWithShape="0">
                    <a:srgbClr val="6E747A">
                      <a:alpha val="43000"/>
                    </a:srgbClr>
                  </a:outerShdw>
                </a:effectLst>
              </a:rPr>
              <a:t>Hardware and Software requirements</a:t>
            </a:r>
            <a:endParaRPr lang="en-US" sz="2800" b="1" dirty="0">
              <a:ln/>
              <a:solidFill>
                <a:schemeClr val="accent3"/>
              </a:solidFill>
            </a:endParaRPr>
          </a:p>
        </p:txBody>
      </p:sp>
      <p:sp>
        <p:nvSpPr>
          <p:cNvPr id="3" name="TextBox 2">
            <a:extLst>
              <a:ext uri="{FF2B5EF4-FFF2-40B4-BE49-F238E27FC236}">
                <a16:creationId xmlns:a16="http://schemas.microsoft.com/office/drawing/2014/main" id="{1D61B452-0D56-A190-EB51-077BEE15C8FF}"/>
              </a:ext>
            </a:extLst>
          </p:cNvPr>
          <p:cNvSpPr txBox="1"/>
          <p:nvPr/>
        </p:nvSpPr>
        <p:spPr>
          <a:xfrm>
            <a:off x="5818338" y="1643836"/>
            <a:ext cx="5906302" cy="2677656"/>
          </a:xfrm>
          <a:prstGeom prst="rect">
            <a:avLst/>
          </a:prstGeom>
          <a:noFill/>
        </p:spPr>
        <p:txBody>
          <a:bodyPr wrap="square" lIns="91440" tIns="45720" rIns="91440" bIns="45720" rtlCol="0" anchor="t">
            <a:spAutoFit/>
          </a:bodyPr>
          <a:lstStyle/>
          <a:p>
            <a:r>
              <a:rPr lang="en-US" sz="2400" b="1" u="sng" dirty="0">
                <a:latin typeface="Cambria" panose="02040503050406030204" pitchFamily="18" charset="0"/>
                <a:ea typeface="Cambria" panose="02040503050406030204" pitchFamily="18" charset="0"/>
                <a:cs typeface="Calibri"/>
              </a:rPr>
              <a:t>SOFTWARE</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Frontend technology (HTML,CSS, JavaScript)</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Backend technology (Python)</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Search engine</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Web Scrapping</a:t>
            </a:r>
          </a:p>
          <a:p>
            <a:pPr marL="342900" indent="-342900">
              <a:buFont typeface="Wingdings" panose="05000000000000000000" pitchFamily="2" charset="2"/>
              <a:buChar char="Ø"/>
            </a:pPr>
            <a:r>
              <a:rPr lang="en-US" sz="2400" b="1" dirty="0">
                <a:latin typeface="Cambria" panose="02040503050406030204" pitchFamily="18" charset="0"/>
                <a:ea typeface="Cambria" panose="02040503050406030204" pitchFamily="18" charset="0"/>
                <a:cs typeface="Calibri"/>
              </a:rPr>
              <a:t>Tools API Integration</a:t>
            </a:r>
            <a:endParaRPr lang="en-US" sz="2400" dirty="0">
              <a:latin typeface="Cambria" panose="02040503050406030204" pitchFamily="18" charset="0"/>
              <a:ea typeface="Cambria" panose="02040503050406030204" pitchFamily="18" charset="0"/>
              <a:cs typeface="Calibri"/>
            </a:endParaRPr>
          </a:p>
        </p:txBody>
      </p:sp>
      <p:pic>
        <p:nvPicPr>
          <p:cNvPr id="5" name="Picture 4">
            <a:extLst>
              <a:ext uri="{FF2B5EF4-FFF2-40B4-BE49-F238E27FC236}">
                <a16:creationId xmlns:a16="http://schemas.microsoft.com/office/drawing/2014/main" id="{94475455-A256-7195-FD10-BAC0D007E69C}"/>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2990837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r="-5000" b="-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5D4D51-368F-8D1A-8585-1B23C5F2FC51}"/>
              </a:ext>
            </a:extLst>
          </p:cNvPr>
          <p:cNvSpPr/>
          <p:nvPr/>
        </p:nvSpPr>
        <p:spPr>
          <a:xfrm>
            <a:off x="276783" y="2693015"/>
            <a:ext cx="5819217" cy="1754326"/>
          </a:xfrm>
          <a:prstGeom prst="rect">
            <a:avLst/>
          </a:prstGeom>
          <a:noFill/>
        </p:spPr>
        <p:txBody>
          <a:bodyPr wrap="square" lIns="91440" tIns="45720" rIns="91440" bIns="45720">
            <a:spAutoFit/>
          </a:bodyPr>
          <a:lstStyle/>
          <a:p>
            <a:pPr algn="ctr"/>
            <a:r>
              <a:rPr lang="en-US" sz="5400" b="1" cap="none" spc="50" dirty="0">
                <a:ln w="0"/>
                <a:solidFill>
                  <a:schemeClr val="bg2"/>
                </a:solidFill>
                <a:effectLst>
                  <a:innerShdw blurRad="63500" dist="50800" dir="13500000">
                    <a:srgbClr val="000000">
                      <a:alpha val="50000"/>
                    </a:srgbClr>
                  </a:innerShdw>
                </a:effectLst>
              </a:rPr>
              <a:t>Detailed Model Algorithm </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E29C01F0-E0DC-D8D5-2EB7-A3767D4B2D62}"/>
                  </a:ext>
                </a:extLst>
              </p:cNvPr>
              <p:cNvGraphicFramePr>
                <a:graphicFrameLocks noChangeAspect="1"/>
              </p:cNvGraphicFramePr>
              <p:nvPr>
                <p:extLst>
                  <p:ext uri="{D42A27DB-BD31-4B8C-83A1-F6EECF244321}">
                    <p14:modId xmlns:p14="http://schemas.microsoft.com/office/powerpoint/2010/main" val="3802781042"/>
                  </p:ext>
                </p:extLst>
              </p:nvPr>
            </p:nvGraphicFramePr>
            <p:xfrm>
              <a:off x="6237515" y="4550773"/>
              <a:ext cx="564123" cy="317319"/>
            </p:xfrm>
            <a:graphic>
              <a:graphicData uri="http://schemas.microsoft.com/office/powerpoint/2016/slidezoom">
                <pslz:sldZm>
                  <pslz:sldZmObj sldId="269" cId="542012611">
                    <pslz:zmPr id="{82F4951D-5DA2-4F19-A0E5-E205A3D48F68}" returnToParent="0" transitionDur="1000">
                      <p166:blipFill xmlns:p166="http://schemas.microsoft.com/office/powerpoint/2016/6/main">
                        <a:blip r:embed="rId3"/>
                        <a:stretch>
                          <a:fillRect/>
                        </a:stretch>
                      </p166:blipFill>
                      <p166:spPr xmlns:p166="http://schemas.microsoft.com/office/powerpoint/2016/6/main">
                        <a:xfrm>
                          <a:off x="0" y="0"/>
                          <a:ext cx="564123" cy="317319"/>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E29C01F0-E0DC-D8D5-2EB7-A3767D4B2D62}"/>
                  </a:ext>
                </a:extLst>
              </p:cNvPr>
              <p:cNvPicPr>
                <a:picLocks noGrp="1" noRot="1" noChangeAspect="1" noMove="1" noResize="1" noEditPoints="1" noAdjustHandles="1" noChangeArrowheads="1" noChangeShapeType="1"/>
              </p:cNvPicPr>
              <p:nvPr/>
            </p:nvPicPr>
            <p:blipFill>
              <a:blip r:embed="rId5"/>
              <a:stretch>
                <a:fillRect/>
              </a:stretch>
            </p:blipFill>
            <p:spPr>
              <a:xfrm>
                <a:off x="6237515" y="4550773"/>
                <a:ext cx="564123" cy="31731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238A0C11-9D8A-CB41-2DF2-6310A49727A2}"/>
                  </a:ext>
                </a:extLst>
              </p:cNvPr>
              <p:cNvGraphicFramePr>
                <a:graphicFrameLocks noChangeAspect="1"/>
              </p:cNvGraphicFramePr>
              <p:nvPr>
                <p:extLst>
                  <p:ext uri="{D42A27DB-BD31-4B8C-83A1-F6EECF244321}">
                    <p14:modId xmlns:p14="http://schemas.microsoft.com/office/powerpoint/2010/main" val="1210441371"/>
                  </p:ext>
                </p:extLst>
              </p:nvPr>
            </p:nvGraphicFramePr>
            <p:xfrm>
              <a:off x="6636175" y="4947013"/>
              <a:ext cx="564123" cy="317319"/>
            </p:xfrm>
            <a:graphic>
              <a:graphicData uri="http://schemas.microsoft.com/office/powerpoint/2016/slidezoom">
                <pslz:sldZm>
                  <pslz:sldZmObj sldId="270" cId="77303998">
                    <pslz:zmPr id="{D73A3F7A-74D0-4193-9DA7-56481F6FC903}" returnToParent="0" transitionDur="1000">
                      <p166:blipFill xmlns:p166="http://schemas.microsoft.com/office/powerpoint/2016/6/main">
                        <a:blip r:embed="rId6"/>
                        <a:stretch>
                          <a:fillRect/>
                        </a:stretch>
                      </p166:blipFill>
                      <p166:spPr xmlns:p166="http://schemas.microsoft.com/office/powerpoint/2016/6/main">
                        <a:xfrm>
                          <a:off x="0" y="0"/>
                          <a:ext cx="564123" cy="317319"/>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238A0C11-9D8A-CB41-2DF2-6310A49727A2}"/>
                  </a:ext>
                </a:extLst>
              </p:cNvPr>
              <p:cNvPicPr>
                <a:picLocks noGrp="1" noRot="1" noChangeAspect="1" noMove="1" noResize="1" noEditPoints="1" noAdjustHandles="1" noChangeArrowheads="1" noChangeShapeType="1"/>
              </p:cNvPicPr>
              <p:nvPr/>
            </p:nvPicPr>
            <p:blipFill>
              <a:blip r:embed="rId8"/>
              <a:stretch>
                <a:fillRect/>
              </a:stretch>
            </p:blipFill>
            <p:spPr>
              <a:xfrm>
                <a:off x="6636175" y="4947013"/>
                <a:ext cx="564123" cy="317319"/>
              </a:xfrm>
              <a:prstGeom prst="rect">
                <a:avLst/>
              </a:prstGeom>
              <a:ln w="3175">
                <a:solidFill>
                  <a:prstClr val="ltGray"/>
                </a:solidFill>
              </a:ln>
            </p:spPr>
          </p:pic>
        </mc:Fallback>
      </mc:AlternateContent>
      <p:pic>
        <p:nvPicPr>
          <p:cNvPr id="3" name="Picture 2">
            <a:extLst>
              <a:ext uri="{FF2B5EF4-FFF2-40B4-BE49-F238E27FC236}">
                <a16:creationId xmlns:a16="http://schemas.microsoft.com/office/drawing/2014/main" id="{B60B5B42-19E1-F67E-35A8-0468ED69363B}"/>
              </a:ext>
            </a:extLst>
          </p:cNvPr>
          <p:cNvPicPr>
            <a:picLocks noChangeAspect="1"/>
          </p:cNvPicPr>
          <p:nvPr/>
        </p:nvPicPr>
        <p:blipFill rotWithShape="1">
          <a:blip r:embed="rId9">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727778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6AD53B-EB66-4CD7-E38C-8CD76A4B7157}"/>
              </a:ext>
            </a:extLst>
          </p:cNvPr>
          <p:cNvSpPr txBox="1"/>
          <p:nvPr/>
        </p:nvSpPr>
        <p:spPr>
          <a:xfrm>
            <a:off x="182879" y="671691"/>
            <a:ext cx="5834743" cy="6186309"/>
          </a:xfrm>
          <a:prstGeom prst="rect">
            <a:avLst/>
          </a:prstGeom>
          <a:noFill/>
        </p:spPr>
        <p:txBody>
          <a:bodyPr wrap="square">
            <a:spAutoFit/>
          </a:bodyPr>
          <a:lstStyle/>
          <a:p>
            <a:r>
              <a:rPr lang="en-IN" dirty="0"/>
              <a:t>Step 1: Define Requirements</a:t>
            </a:r>
          </a:p>
          <a:p>
            <a:endParaRPr lang="en-IN" dirty="0"/>
          </a:p>
          <a:p>
            <a:r>
              <a:rPr lang="en-IN" dirty="0"/>
              <a:t>1. Determining the scope of our website (e.g., product categories, features, user interface).</a:t>
            </a:r>
          </a:p>
          <a:p>
            <a:r>
              <a:rPr lang="en-IN" dirty="0"/>
              <a:t>2. Identifying the technologies and tools needed (e.g., web development framework, database, Amazon API).</a:t>
            </a:r>
          </a:p>
          <a:p>
            <a:endParaRPr lang="en-IN" dirty="0"/>
          </a:p>
          <a:p>
            <a:r>
              <a:rPr lang="en-IN" dirty="0"/>
              <a:t>Step 2: Set Up the Development Environment</a:t>
            </a:r>
          </a:p>
          <a:p>
            <a:endParaRPr lang="en-IN" dirty="0"/>
          </a:p>
          <a:p>
            <a:r>
              <a:rPr lang="en-IN" dirty="0"/>
              <a:t>1. Choose a web development framework (e.g. Express.js).</a:t>
            </a:r>
          </a:p>
          <a:p>
            <a:r>
              <a:rPr lang="en-IN" dirty="0"/>
              <a:t>2. Set up a version control system (e.g., Git) to track changes.</a:t>
            </a:r>
          </a:p>
          <a:p>
            <a:r>
              <a:rPr lang="en-IN" dirty="0"/>
              <a:t>3. Create a database to store product information.</a:t>
            </a:r>
          </a:p>
          <a:p>
            <a:endParaRPr lang="en-IN" dirty="0"/>
          </a:p>
          <a:p>
            <a:r>
              <a:rPr lang="en-IN" dirty="0"/>
              <a:t>Step 3: Amazon Product Data Retrieval</a:t>
            </a:r>
          </a:p>
          <a:p>
            <a:endParaRPr lang="en-IN" dirty="0"/>
          </a:p>
          <a:p>
            <a:r>
              <a:rPr lang="en-IN" dirty="0"/>
              <a:t>1. Register for an Amazon Associates account to access the Product Advertising API.</a:t>
            </a:r>
          </a:p>
          <a:p>
            <a:r>
              <a:rPr lang="en-IN" dirty="0"/>
              <a:t>2. Obtain API keys and configure API access.</a:t>
            </a:r>
          </a:p>
          <a:p>
            <a:r>
              <a:rPr lang="en-IN" dirty="0"/>
              <a:t>3. Implement code to fetch product data from Amazon using the API (e.g., product name, price, description, URL).</a:t>
            </a:r>
          </a:p>
          <a:p>
            <a:r>
              <a:rPr lang="en-IN" dirty="0"/>
              <a:t>4. Store retrieved product data in our database.</a:t>
            </a:r>
          </a:p>
        </p:txBody>
      </p:sp>
      <p:sp>
        <p:nvSpPr>
          <p:cNvPr id="5" name="TextBox 4">
            <a:extLst>
              <a:ext uri="{FF2B5EF4-FFF2-40B4-BE49-F238E27FC236}">
                <a16:creationId xmlns:a16="http://schemas.microsoft.com/office/drawing/2014/main" id="{0AB97FD6-4618-3FA8-4717-B9EAADCEBD24}"/>
              </a:ext>
            </a:extLst>
          </p:cNvPr>
          <p:cNvSpPr txBox="1"/>
          <p:nvPr/>
        </p:nvSpPr>
        <p:spPr>
          <a:xfrm>
            <a:off x="6096000" y="733084"/>
            <a:ext cx="6096000" cy="5355312"/>
          </a:xfrm>
          <a:prstGeom prst="rect">
            <a:avLst/>
          </a:prstGeom>
          <a:noFill/>
        </p:spPr>
        <p:txBody>
          <a:bodyPr wrap="square">
            <a:spAutoFit/>
          </a:bodyPr>
          <a:lstStyle/>
          <a:p>
            <a:r>
              <a:rPr lang="en-IN" dirty="0"/>
              <a:t>Step 4: User Registration and Authentication (Optional)</a:t>
            </a:r>
          </a:p>
          <a:p>
            <a:endParaRPr lang="en-IN" dirty="0"/>
          </a:p>
          <a:p>
            <a:r>
              <a:rPr lang="en-IN" dirty="0"/>
              <a:t>1. Implement user registration and login functionality (if desired).</a:t>
            </a:r>
          </a:p>
          <a:p>
            <a:r>
              <a:rPr lang="en-IN" dirty="0"/>
              <a:t>2. Secure user data and passwords.</a:t>
            </a:r>
          </a:p>
          <a:p>
            <a:endParaRPr lang="en-IN" dirty="0"/>
          </a:p>
          <a:p>
            <a:r>
              <a:rPr lang="en-IN" dirty="0"/>
              <a:t>Step 5: Building the Website</a:t>
            </a:r>
          </a:p>
          <a:p>
            <a:endParaRPr lang="en-IN" dirty="0"/>
          </a:p>
          <a:p>
            <a:r>
              <a:rPr lang="en-IN" dirty="0"/>
              <a:t>1. Designing the user interface for our website (e.g., product search, comparison, user profiles).</a:t>
            </a:r>
          </a:p>
          <a:p>
            <a:r>
              <a:rPr lang="en-IN" dirty="0"/>
              <a:t>2. Implementing a search feature that allows users to search for products.</a:t>
            </a:r>
          </a:p>
          <a:p>
            <a:r>
              <a:rPr lang="en-IN" dirty="0"/>
              <a:t>3. Display search results, including product details and prices.</a:t>
            </a:r>
          </a:p>
          <a:p>
            <a:r>
              <a:rPr lang="en-IN" dirty="0"/>
              <a:t>4. Implement a comparison feature that allows users to select and compare products.</a:t>
            </a:r>
          </a:p>
          <a:p>
            <a:r>
              <a:rPr lang="en-IN" dirty="0"/>
              <a:t>5. Implement sorting and filtering options to help users find the best results.</a:t>
            </a:r>
          </a:p>
          <a:p>
            <a:r>
              <a:rPr lang="en-IN" dirty="0"/>
              <a:t>6. Create user-friendly URLs for product pages.</a:t>
            </a:r>
          </a:p>
          <a:p>
            <a:endParaRPr lang="en-IN" dirty="0"/>
          </a:p>
        </p:txBody>
      </p:sp>
      <p:pic>
        <p:nvPicPr>
          <p:cNvPr id="2" name="Picture 1">
            <a:extLst>
              <a:ext uri="{FF2B5EF4-FFF2-40B4-BE49-F238E27FC236}">
                <a16:creationId xmlns:a16="http://schemas.microsoft.com/office/drawing/2014/main" id="{64FC7D8E-4048-47A1-0C1D-496B2D7C9009}"/>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542012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6AD53B-EB66-4CD7-E38C-8CD76A4B7157}"/>
              </a:ext>
            </a:extLst>
          </p:cNvPr>
          <p:cNvSpPr txBox="1"/>
          <p:nvPr/>
        </p:nvSpPr>
        <p:spPr>
          <a:xfrm>
            <a:off x="182880" y="644433"/>
            <a:ext cx="5712823" cy="5632311"/>
          </a:xfrm>
          <a:prstGeom prst="rect">
            <a:avLst/>
          </a:prstGeom>
          <a:noFill/>
        </p:spPr>
        <p:txBody>
          <a:bodyPr wrap="square">
            <a:spAutoFit/>
          </a:bodyPr>
          <a:lstStyle/>
          <a:p>
            <a:r>
              <a:rPr lang="en-IN" dirty="0"/>
              <a:t>Step 6: Price Comparison Logic</a:t>
            </a:r>
          </a:p>
          <a:p>
            <a:r>
              <a:rPr lang="en-IN" dirty="0"/>
              <a:t>1. Develop an algorithm to compare prices and determine the best result.</a:t>
            </a:r>
          </a:p>
          <a:p>
            <a:r>
              <a:rPr lang="en-IN" dirty="0"/>
              <a:t>2. Factors to consider may include price, shipping costs, ratings, and seller reputation.</a:t>
            </a:r>
          </a:p>
          <a:p>
            <a:r>
              <a:rPr lang="en-IN" dirty="0"/>
              <a:t>3. Present the best result prominently to the user.</a:t>
            </a:r>
          </a:p>
          <a:p>
            <a:endParaRPr lang="en-IN" dirty="0"/>
          </a:p>
          <a:p>
            <a:r>
              <a:rPr lang="en-IN" dirty="0"/>
              <a:t>Step 7: User Interaction and Feedback</a:t>
            </a:r>
          </a:p>
          <a:p>
            <a:endParaRPr lang="en-IN" dirty="0"/>
          </a:p>
          <a:p>
            <a:r>
              <a:rPr lang="en-IN" dirty="0"/>
              <a:t>1. Allow users to leave reviews and ratings for products.</a:t>
            </a:r>
          </a:p>
          <a:p>
            <a:r>
              <a:rPr lang="en-IN" dirty="0"/>
              <a:t>2. Implement a feedback system to improve user experience.</a:t>
            </a:r>
          </a:p>
          <a:p>
            <a:r>
              <a:rPr lang="en-IN" dirty="0"/>
              <a:t>3. Handle user queries and issues.</a:t>
            </a:r>
          </a:p>
          <a:p>
            <a:endParaRPr lang="en-IN" dirty="0"/>
          </a:p>
          <a:p>
            <a:r>
              <a:rPr lang="en-IN" dirty="0"/>
              <a:t>Step 8: Performance Optimization</a:t>
            </a:r>
          </a:p>
          <a:p>
            <a:endParaRPr lang="en-IN" dirty="0"/>
          </a:p>
          <a:p>
            <a:r>
              <a:rPr lang="en-IN" dirty="0"/>
              <a:t>1. Optimize database queries for fast product retrieval.</a:t>
            </a:r>
          </a:p>
          <a:p>
            <a:r>
              <a:rPr lang="en-IN" dirty="0"/>
              <a:t>2. Implement caching mechanisms to reduce API requests to Amazon.</a:t>
            </a:r>
          </a:p>
          <a:p>
            <a:r>
              <a:rPr lang="en-IN" dirty="0"/>
              <a:t>3. Ensure the website is responsive and loads quickly.</a:t>
            </a:r>
          </a:p>
        </p:txBody>
      </p:sp>
      <p:sp>
        <p:nvSpPr>
          <p:cNvPr id="4" name="TextBox 3">
            <a:extLst>
              <a:ext uri="{FF2B5EF4-FFF2-40B4-BE49-F238E27FC236}">
                <a16:creationId xmlns:a16="http://schemas.microsoft.com/office/drawing/2014/main" id="{A79328B4-1A07-1FEE-E6CB-3E281136F0AF}"/>
              </a:ext>
            </a:extLst>
          </p:cNvPr>
          <p:cNvSpPr txBox="1"/>
          <p:nvPr/>
        </p:nvSpPr>
        <p:spPr>
          <a:xfrm>
            <a:off x="6096000" y="792038"/>
            <a:ext cx="6096000" cy="5632311"/>
          </a:xfrm>
          <a:prstGeom prst="rect">
            <a:avLst/>
          </a:prstGeom>
          <a:noFill/>
        </p:spPr>
        <p:txBody>
          <a:bodyPr wrap="square">
            <a:spAutoFit/>
          </a:bodyPr>
          <a:lstStyle/>
          <a:p>
            <a:r>
              <a:rPr lang="en-IN" dirty="0"/>
              <a:t>Step 9: Security</a:t>
            </a:r>
          </a:p>
          <a:p>
            <a:endParaRPr lang="en-IN" dirty="0"/>
          </a:p>
          <a:p>
            <a:r>
              <a:rPr lang="en-IN" dirty="0"/>
              <a:t>1. Implement security measures to protect user data and prevent common web vulnerabilities (e.g., SQL injection, cross-site scripting).</a:t>
            </a:r>
          </a:p>
          <a:p>
            <a:r>
              <a:rPr lang="en-IN" dirty="0"/>
              <a:t>2. Use secure connections (HTTPS) to protect user data in transit.</a:t>
            </a:r>
          </a:p>
          <a:p>
            <a:endParaRPr lang="en-IN" dirty="0"/>
          </a:p>
          <a:p>
            <a:r>
              <a:rPr lang="en-IN" dirty="0"/>
              <a:t>Step 10: Testing and Quality Assurance</a:t>
            </a:r>
          </a:p>
          <a:p>
            <a:endParaRPr lang="en-IN" dirty="0"/>
          </a:p>
          <a:p>
            <a:r>
              <a:rPr lang="en-IN" dirty="0"/>
              <a:t>1. Conduct thorough testing, including unit tests, integration tests, and user acceptance testing.</a:t>
            </a:r>
          </a:p>
          <a:p>
            <a:r>
              <a:rPr lang="en-IN" dirty="0"/>
              <a:t>2. Fix any bugs and issues identified during testing.</a:t>
            </a:r>
          </a:p>
          <a:p>
            <a:r>
              <a:rPr lang="en-IN" dirty="0"/>
              <a:t>3. Ensure cross-browser compatibility and responsive design.</a:t>
            </a:r>
          </a:p>
          <a:p>
            <a:endParaRPr lang="en-IN" dirty="0"/>
          </a:p>
          <a:p>
            <a:r>
              <a:rPr lang="en-IN" dirty="0"/>
              <a:t>Step 11: Deployment</a:t>
            </a:r>
          </a:p>
          <a:p>
            <a:endParaRPr lang="en-IN" dirty="0"/>
          </a:p>
          <a:p>
            <a:r>
              <a:rPr lang="en-IN" dirty="0"/>
              <a:t>1. Choose a hosting provider and deploy your website.</a:t>
            </a:r>
          </a:p>
          <a:p>
            <a:r>
              <a:rPr lang="en-IN" dirty="0"/>
              <a:t>2. Configure domain settings</a:t>
            </a:r>
          </a:p>
          <a:p>
            <a:r>
              <a:rPr lang="en-IN" dirty="0"/>
              <a:t>3. Monitor website performance and server health.</a:t>
            </a:r>
          </a:p>
        </p:txBody>
      </p:sp>
      <p:pic>
        <p:nvPicPr>
          <p:cNvPr id="2" name="Picture 1">
            <a:extLst>
              <a:ext uri="{FF2B5EF4-FFF2-40B4-BE49-F238E27FC236}">
                <a16:creationId xmlns:a16="http://schemas.microsoft.com/office/drawing/2014/main" id="{67161A0E-85DC-99CD-919F-2B30D2BE3846}"/>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77303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r="-5000" b="-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5D4D51-368F-8D1A-8585-1B23C5F2FC51}"/>
              </a:ext>
            </a:extLst>
          </p:cNvPr>
          <p:cNvSpPr/>
          <p:nvPr/>
        </p:nvSpPr>
        <p:spPr>
          <a:xfrm>
            <a:off x="276783" y="2875895"/>
            <a:ext cx="5819217" cy="923330"/>
          </a:xfrm>
          <a:prstGeom prst="rect">
            <a:avLst/>
          </a:prstGeom>
          <a:noFill/>
        </p:spPr>
        <p:txBody>
          <a:bodyPr wrap="square" lIns="91440" tIns="45720" rIns="91440" bIns="45720">
            <a:spAutoFit/>
          </a:bodyPr>
          <a:lstStyle/>
          <a:p>
            <a:pPr algn="ctr"/>
            <a:r>
              <a:rPr lang="en-US" sz="5400" b="1" spc="50" dirty="0">
                <a:ln w="0"/>
                <a:solidFill>
                  <a:schemeClr val="bg2"/>
                </a:solidFill>
                <a:effectLst>
                  <a:innerShdw blurRad="63500" dist="50800" dir="13500000">
                    <a:srgbClr val="000000">
                      <a:alpha val="50000"/>
                    </a:srgbClr>
                  </a:innerShdw>
                </a:effectLst>
              </a:rPr>
              <a:t>Work Flow</a:t>
            </a:r>
            <a:endParaRPr lang="en-US" sz="5400" b="1" cap="none" spc="50" dirty="0">
              <a:ln w="0"/>
              <a:solidFill>
                <a:schemeClr val="bg2"/>
              </a:solidFill>
              <a:effectLst>
                <a:innerShdw blurRad="63500" dist="50800" dir="13500000">
                  <a:srgbClr val="000000">
                    <a:alpha val="50000"/>
                  </a:srgbClr>
                </a:innerShdw>
              </a:effectLst>
            </a:endParaRP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E9C1D18-7A9A-A41F-3ADF-92AE75C9F4EE}"/>
                  </a:ext>
                </a:extLst>
              </p:cNvPr>
              <p:cNvGraphicFramePr>
                <a:graphicFrameLocks noChangeAspect="1"/>
              </p:cNvGraphicFramePr>
              <p:nvPr>
                <p:extLst>
                  <p:ext uri="{D42A27DB-BD31-4B8C-83A1-F6EECF244321}">
                    <p14:modId xmlns:p14="http://schemas.microsoft.com/office/powerpoint/2010/main" val="574021063"/>
                  </p:ext>
                </p:extLst>
              </p:nvPr>
            </p:nvGraphicFramePr>
            <p:xfrm>
              <a:off x="6270171" y="4544573"/>
              <a:ext cx="598608" cy="336717"/>
            </p:xfrm>
            <a:graphic>
              <a:graphicData uri="http://schemas.microsoft.com/office/powerpoint/2016/slidezoom">
                <pslz:sldZm>
                  <pslz:sldZmObj sldId="272" cId="1849620905">
                    <pslz:zmPr id="{6F45B43E-EDCD-43C8-A313-CD6A6D6AE4F9}" returnToParent="0" transitionDur="1000">
                      <p166:blipFill xmlns:p166="http://schemas.microsoft.com/office/powerpoint/2016/6/main">
                        <a:blip r:embed="rId3"/>
                        <a:stretch>
                          <a:fillRect/>
                        </a:stretch>
                      </p166:blipFill>
                      <p166:spPr xmlns:p166="http://schemas.microsoft.com/office/powerpoint/2016/6/main">
                        <a:xfrm>
                          <a:off x="0" y="0"/>
                          <a:ext cx="598608" cy="336717"/>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1E9C1D18-7A9A-A41F-3ADF-92AE75C9F4EE}"/>
                  </a:ext>
                </a:extLst>
              </p:cNvPr>
              <p:cNvPicPr>
                <a:picLocks noGrp="1" noRot="1" noChangeAspect="1" noMove="1" noResize="1" noEditPoints="1" noAdjustHandles="1" noChangeArrowheads="1" noChangeShapeType="1"/>
              </p:cNvPicPr>
              <p:nvPr/>
            </p:nvPicPr>
            <p:blipFill>
              <a:blip r:embed="rId5"/>
              <a:stretch>
                <a:fillRect/>
              </a:stretch>
            </p:blipFill>
            <p:spPr>
              <a:xfrm>
                <a:off x="6270171" y="4544573"/>
                <a:ext cx="598608" cy="33671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0F726794-69C8-FA44-6A01-1F61AC25D749}"/>
                  </a:ext>
                </a:extLst>
              </p:cNvPr>
              <p:cNvGraphicFramePr>
                <a:graphicFrameLocks noChangeAspect="1"/>
              </p:cNvGraphicFramePr>
              <p:nvPr>
                <p:extLst>
                  <p:ext uri="{D42A27DB-BD31-4B8C-83A1-F6EECF244321}">
                    <p14:modId xmlns:p14="http://schemas.microsoft.com/office/powerpoint/2010/main" val="838086458"/>
                  </p:ext>
                </p:extLst>
              </p:nvPr>
            </p:nvGraphicFramePr>
            <p:xfrm>
              <a:off x="6629346" y="4958229"/>
              <a:ext cx="598608" cy="336717"/>
            </p:xfrm>
            <a:graphic>
              <a:graphicData uri="http://schemas.microsoft.com/office/powerpoint/2016/slidezoom">
                <pslz:sldZm>
                  <pslz:sldZmObj sldId="273" cId="2787588435">
                    <pslz:zmPr id="{D0C55513-BF7F-438E-BFCE-502A4C42AFEB}" returnToParent="0" transitionDur="1000">
                      <p166:blipFill xmlns:p166="http://schemas.microsoft.com/office/powerpoint/2016/6/main">
                        <a:blip r:embed="rId6"/>
                        <a:stretch>
                          <a:fillRect/>
                        </a:stretch>
                      </p166:blipFill>
                      <p166:spPr xmlns:p166="http://schemas.microsoft.com/office/powerpoint/2016/6/main">
                        <a:xfrm>
                          <a:off x="0" y="0"/>
                          <a:ext cx="598608" cy="336717"/>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0F726794-69C8-FA44-6A01-1F61AC25D749}"/>
                  </a:ext>
                </a:extLst>
              </p:cNvPr>
              <p:cNvPicPr>
                <a:picLocks noGrp="1" noRot="1" noChangeAspect="1" noMove="1" noResize="1" noEditPoints="1" noAdjustHandles="1" noChangeArrowheads="1" noChangeShapeType="1"/>
              </p:cNvPicPr>
              <p:nvPr/>
            </p:nvPicPr>
            <p:blipFill>
              <a:blip r:embed="rId8"/>
              <a:stretch>
                <a:fillRect/>
              </a:stretch>
            </p:blipFill>
            <p:spPr>
              <a:xfrm>
                <a:off x="6629346" y="4958229"/>
                <a:ext cx="598608" cy="336717"/>
              </a:xfrm>
              <a:prstGeom prst="rect">
                <a:avLst/>
              </a:prstGeom>
              <a:ln w="3175">
                <a:solidFill>
                  <a:prstClr val="ltGray"/>
                </a:solidFill>
              </a:ln>
            </p:spPr>
          </p:pic>
        </mc:Fallback>
      </mc:AlternateContent>
      <p:pic>
        <p:nvPicPr>
          <p:cNvPr id="7" name="Picture 6">
            <a:extLst>
              <a:ext uri="{FF2B5EF4-FFF2-40B4-BE49-F238E27FC236}">
                <a16:creationId xmlns:a16="http://schemas.microsoft.com/office/drawing/2014/main" id="{D1B7666F-EA11-A1BA-44A9-BB2A869FD2D0}"/>
              </a:ext>
            </a:extLst>
          </p:cNvPr>
          <p:cNvPicPr>
            <a:picLocks noChangeAspect="1"/>
          </p:cNvPicPr>
          <p:nvPr/>
        </p:nvPicPr>
        <p:blipFill rotWithShape="1">
          <a:blip r:embed="rId9">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268203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F7F6C3-32ED-8B6B-5764-BE89F2B69D36}"/>
              </a:ext>
            </a:extLst>
          </p:cNvPr>
          <p:cNvSpPr txBox="1"/>
          <p:nvPr/>
        </p:nvSpPr>
        <p:spPr>
          <a:xfrm>
            <a:off x="461555" y="335280"/>
            <a:ext cx="7672251" cy="5960927"/>
          </a:xfrm>
          <a:prstGeom prst="rect">
            <a:avLst/>
          </a:prstGeom>
          <a:noFill/>
        </p:spPr>
        <p:txBody>
          <a:bodyPr wrap="square">
            <a:spAutoFit/>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Start --</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User Interaction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 Visits Website] --&gt; [Enters Product Details]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Data Gathering --</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[Query Product Information] --&gt; [Retrieve Data from Retailers] --&gt; [Store Data]</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Data Processing --</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[Filter and Normalize Data] --&gt; [Sort by Price] --&gt; [Generate Comparison Results]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User Interface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[Display Comparison Results]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User Interaction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cxnSp>
        <p:nvCxnSpPr>
          <p:cNvPr id="5" name="Straight Arrow Connector 4">
            <a:extLst>
              <a:ext uri="{FF2B5EF4-FFF2-40B4-BE49-F238E27FC236}">
                <a16:creationId xmlns:a16="http://schemas.microsoft.com/office/drawing/2014/main" id="{72AEA55B-FDC7-F8CD-5514-1011366D993A}"/>
              </a:ext>
            </a:extLst>
          </p:cNvPr>
          <p:cNvCxnSpPr/>
          <p:nvPr/>
        </p:nvCxnSpPr>
        <p:spPr>
          <a:xfrm>
            <a:off x="1341120" y="1088571"/>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6442431-5C40-46AD-3455-89664817F066}"/>
              </a:ext>
            </a:extLst>
          </p:cNvPr>
          <p:cNvCxnSpPr/>
          <p:nvPr/>
        </p:nvCxnSpPr>
        <p:spPr>
          <a:xfrm>
            <a:off x="1341120" y="2264229"/>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3DAA8D-CDFA-58F6-9B3E-6379A3C32F5F}"/>
              </a:ext>
            </a:extLst>
          </p:cNvPr>
          <p:cNvCxnSpPr/>
          <p:nvPr/>
        </p:nvCxnSpPr>
        <p:spPr>
          <a:xfrm>
            <a:off x="1341120" y="3429000"/>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567C525-D1DD-605D-1713-890BC677FD8B}"/>
              </a:ext>
            </a:extLst>
          </p:cNvPr>
          <p:cNvCxnSpPr/>
          <p:nvPr/>
        </p:nvCxnSpPr>
        <p:spPr>
          <a:xfrm>
            <a:off x="1341120" y="4615543"/>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84B48CE-BCCF-A793-7A77-3C15B36F0936}"/>
              </a:ext>
            </a:extLst>
          </p:cNvPr>
          <p:cNvCxnSpPr/>
          <p:nvPr/>
        </p:nvCxnSpPr>
        <p:spPr>
          <a:xfrm>
            <a:off x="1341120" y="5843451"/>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CC7A905-E647-8321-1ABF-B4D0353ADE7B}"/>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84962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F7F6C3-32ED-8B6B-5764-BE89F2B69D36}"/>
              </a:ext>
            </a:extLst>
          </p:cNvPr>
          <p:cNvSpPr txBox="1"/>
          <p:nvPr/>
        </p:nvSpPr>
        <p:spPr>
          <a:xfrm>
            <a:off x="461555" y="335280"/>
            <a:ext cx="7672251" cy="5561972"/>
          </a:xfrm>
          <a:prstGeom prst="rect">
            <a:avLst/>
          </a:prstGeom>
          <a:noFill/>
        </p:spPr>
        <p:txBody>
          <a:bodyPr wrap="square">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 Selects a Product]</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More Data Gathering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[Retrieve Detailed Product Information]</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Display Product Details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[Show Product Name, Description, Reviews, Ratings, etc.]</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User Interaction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 Selects a Retailer or Option to Purchase]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Redirect to Retailer --</a:t>
            </a:r>
          </a:p>
          <a:p>
            <a:pPr>
              <a:lnSpc>
                <a:spcPct val="107000"/>
              </a:lnSpc>
              <a:spcAft>
                <a:spcPts val="800"/>
              </a:spcAft>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 Redirected to Retailer's Website for Purchase]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End --</a:t>
            </a:r>
          </a:p>
        </p:txBody>
      </p:sp>
      <p:cxnSp>
        <p:nvCxnSpPr>
          <p:cNvPr id="5" name="Straight Arrow Connector 4">
            <a:extLst>
              <a:ext uri="{FF2B5EF4-FFF2-40B4-BE49-F238E27FC236}">
                <a16:creationId xmlns:a16="http://schemas.microsoft.com/office/drawing/2014/main" id="{72AEA55B-FDC7-F8CD-5514-1011366D993A}"/>
              </a:ext>
            </a:extLst>
          </p:cNvPr>
          <p:cNvCxnSpPr/>
          <p:nvPr/>
        </p:nvCxnSpPr>
        <p:spPr>
          <a:xfrm>
            <a:off x="1349829" y="1053736"/>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6442431-5C40-46AD-3455-89664817F066}"/>
              </a:ext>
            </a:extLst>
          </p:cNvPr>
          <p:cNvCxnSpPr/>
          <p:nvPr/>
        </p:nvCxnSpPr>
        <p:spPr>
          <a:xfrm>
            <a:off x="1349829" y="2281645"/>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3DAA8D-CDFA-58F6-9B3E-6379A3C32F5F}"/>
              </a:ext>
            </a:extLst>
          </p:cNvPr>
          <p:cNvCxnSpPr/>
          <p:nvPr/>
        </p:nvCxnSpPr>
        <p:spPr>
          <a:xfrm>
            <a:off x="1349829" y="3429000"/>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567C525-D1DD-605D-1713-890BC677FD8B}"/>
              </a:ext>
            </a:extLst>
          </p:cNvPr>
          <p:cNvCxnSpPr/>
          <p:nvPr/>
        </p:nvCxnSpPr>
        <p:spPr>
          <a:xfrm>
            <a:off x="1349829" y="4615544"/>
            <a:ext cx="0" cy="45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5C8CE7A-D7C0-3FF2-7E39-A7F522755B92}"/>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2787588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r="-5000" b="-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5D4D51-368F-8D1A-8585-1B23C5F2FC51}"/>
              </a:ext>
            </a:extLst>
          </p:cNvPr>
          <p:cNvSpPr/>
          <p:nvPr/>
        </p:nvSpPr>
        <p:spPr>
          <a:xfrm>
            <a:off x="276783" y="2875895"/>
            <a:ext cx="5819217" cy="1754326"/>
          </a:xfrm>
          <a:prstGeom prst="rect">
            <a:avLst/>
          </a:prstGeom>
          <a:noFill/>
        </p:spPr>
        <p:txBody>
          <a:bodyPr wrap="square" lIns="91440" tIns="45720" rIns="91440" bIns="45720">
            <a:spAutoFit/>
          </a:bodyPr>
          <a:lstStyle/>
          <a:p>
            <a:pPr algn="ctr"/>
            <a:r>
              <a:rPr lang="en-US" sz="5400" b="1" cap="none" spc="50" dirty="0">
                <a:ln w="0"/>
                <a:solidFill>
                  <a:schemeClr val="bg2"/>
                </a:solidFill>
                <a:effectLst>
                  <a:innerShdw blurRad="63500" dist="50800" dir="13500000">
                    <a:srgbClr val="000000">
                      <a:alpha val="50000"/>
                    </a:srgbClr>
                  </a:innerShdw>
                </a:effectLst>
              </a:rPr>
              <a:t>Imple</a:t>
            </a:r>
            <a:r>
              <a:rPr lang="en-US" sz="5400" b="1" spc="50" dirty="0">
                <a:ln w="0"/>
                <a:solidFill>
                  <a:schemeClr val="bg2"/>
                </a:solidFill>
                <a:effectLst>
                  <a:innerShdw blurRad="63500" dist="50800" dir="13500000">
                    <a:srgbClr val="000000">
                      <a:alpha val="50000"/>
                    </a:srgbClr>
                  </a:innerShdw>
                </a:effectLst>
              </a:rPr>
              <a:t>mentation and Coding</a:t>
            </a:r>
            <a:r>
              <a:rPr lang="en-US" sz="5400" b="1" cap="none" spc="50" dirty="0">
                <a:ln w="0"/>
                <a:solidFill>
                  <a:schemeClr val="bg2"/>
                </a:solidFill>
                <a:effectLst>
                  <a:innerShdw blurRad="63500" dist="50800" dir="13500000">
                    <a:srgbClr val="000000">
                      <a:alpha val="50000"/>
                    </a:srgbClr>
                  </a:innerShdw>
                </a:effectLst>
              </a:rPr>
              <a:t> </a:t>
            </a:r>
          </a:p>
        </p:txBody>
      </p:sp>
      <mc:AlternateContent xmlns:mc="http://schemas.openxmlformats.org/markup-compatibility/2006">
        <mc:Choice xmlns:pslz="http://schemas.microsoft.com/office/powerpoint/2016/slidezoom" Requires="pslz">
          <p:graphicFrame>
            <p:nvGraphicFramePr>
              <p:cNvPr id="4" name="Slide Zoom 3">
                <a:extLst>
                  <a:ext uri="{FF2B5EF4-FFF2-40B4-BE49-F238E27FC236}">
                    <a16:creationId xmlns:a16="http://schemas.microsoft.com/office/drawing/2014/main" id="{1E9C1D18-7A9A-A41F-3ADF-92AE75C9F4EE}"/>
                  </a:ext>
                </a:extLst>
              </p:cNvPr>
              <p:cNvGraphicFramePr>
                <a:graphicFrameLocks noChangeAspect="1"/>
              </p:cNvGraphicFramePr>
              <p:nvPr/>
            </p:nvGraphicFramePr>
            <p:xfrm>
              <a:off x="6270171" y="4544573"/>
              <a:ext cx="598608" cy="336717"/>
            </p:xfrm>
            <a:graphic>
              <a:graphicData uri="http://schemas.microsoft.com/office/powerpoint/2016/slidezoom">
                <pslz:sldZm>
                  <pslz:sldZmObj sldId="272" cId="1849620905">
                    <pslz:zmPr id="{6F45B43E-EDCD-43C8-A313-CD6A6D6AE4F9}" returnToParent="0" transitionDur="1000">
                      <p166:blipFill xmlns:p166="http://schemas.microsoft.com/office/powerpoint/2016/6/main">
                        <a:blip r:embed="rId3"/>
                        <a:stretch>
                          <a:fillRect/>
                        </a:stretch>
                      </p166:blipFill>
                      <p166:spPr xmlns:p166="http://schemas.microsoft.com/office/powerpoint/2016/6/main">
                        <a:xfrm>
                          <a:off x="0" y="0"/>
                          <a:ext cx="598608" cy="336717"/>
                        </a:xfrm>
                        <a:prstGeom prst="rect">
                          <a:avLst/>
                        </a:prstGeom>
                        <a:ln w="3175">
                          <a:solidFill>
                            <a:prstClr val="ltGray"/>
                          </a:solidFill>
                        </a:ln>
                      </p166:spPr>
                    </pslz:zmPr>
                  </pslz:sldZmObj>
                </pslz:sldZm>
              </a:graphicData>
            </a:graphic>
          </p:graphicFrame>
        </mc:Choice>
        <mc:Fallback>
          <p:pic>
            <p:nvPicPr>
              <p:cNvPr id="4" name="Slide Zoom 3">
                <a:hlinkClick r:id="rId4" action="ppaction://hlinksldjump"/>
                <a:extLst>
                  <a:ext uri="{FF2B5EF4-FFF2-40B4-BE49-F238E27FC236}">
                    <a16:creationId xmlns:a16="http://schemas.microsoft.com/office/drawing/2014/main" id="{1E9C1D18-7A9A-A41F-3ADF-92AE75C9F4EE}"/>
                  </a:ext>
                </a:extLst>
              </p:cNvPr>
              <p:cNvPicPr>
                <a:picLocks noGrp="1" noRot="1" noChangeAspect="1" noMove="1" noResize="1" noEditPoints="1" noAdjustHandles="1" noChangeArrowheads="1" noChangeShapeType="1"/>
              </p:cNvPicPr>
              <p:nvPr/>
            </p:nvPicPr>
            <p:blipFill>
              <a:blip r:embed="rId3"/>
              <a:stretch>
                <a:fillRect/>
              </a:stretch>
            </p:blipFill>
            <p:spPr>
              <a:xfrm>
                <a:off x="6270171" y="4544573"/>
                <a:ext cx="598608" cy="336717"/>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0F726794-69C8-FA44-6A01-1F61AC25D749}"/>
                  </a:ext>
                </a:extLst>
              </p:cNvPr>
              <p:cNvGraphicFramePr>
                <a:graphicFrameLocks noChangeAspect="1"/>
              </p:cNvGraphicFramePr>
              <p:nvPr/>
            </p:nvGraphicFramePr>
            <p:xfrm>
              <a:off x="6629346" y="4958229"/>
              <a:ext cx="598608" cy="336717"/>
            </p:xfrm>
            <a:graphic>
              <a:graphicData uri="http://schemas.microsoft.com/office/powerpoint/2016/slidezoom">
                <pslz:sldZm>
                  <pslz:sldZmObj sldId="273" cId="2787588435">
                    <pslz:zmPr id="{D0C55513-BF7F-438E-BFCE-502A4C42AFEB}" returnToParent="0" transitionDur="1000">
                      <p166:blipFill xmlns:p166="http://schemas.microsoft.com/office/powerpoint/2016/6/main">
                        <a:blip r:embed="rId5"/>
                        <a:stretch>
                          <a:fillRect/>
                        </a:stretch>
                      </p166:blipFill>
                      <p166:spPr xmlns:p166="http://schemas.microsoft.com/office/powerpoint/2016/6/main">
                        <a:xfrm>
                          <a:off x="0" y="0"/>
                          <a:ext cx="598608" cy="336717"/>
                        </a:xfrm>
                        <a:prstGeom prst="rect">
                          <a:avLst/>
                        </a:prstGeom>
                        <a:ln w="3175">
                          <a:solidFill>
                            <a:prstClr val="ltGray"/>
                          </a:solidFill>
                        </a:ln>
                      </p166:spPr>
                    </pslz:zmPr>
                  </pslz:sldZmObj>
                </pslz:sldZm>
              </a:graphicData>
            </a:graphic>
          </p:graphicFrame>
        </mc:Choice>
        <mc:Fallback>
          <p:pic>
            <p:nvPicPr>
              <p:cNvPr id="6" name="Slide Zoom 5">
                <a:hlinkClick r:id="rId6" action="ppaction://hlinksldjump"/>
                <a:extLst>
                  <a:ext uri="{FF2B5EF4-FFF2-40B4-BE49-F238E27FC236}">
                    <a16:creationId xmlns:a16="http://schemas.microsoft.com/office/drawing/2014/main" id="{0F726794-69C8-FA44-6A01-1F61AC25D749}"/>
                  </a:ext>
                </a:extLst>
              </p:cNvPr>
              <p:cNvPicPr>
                <a:picLocks noGrp="1" noRot="1" noChangeAspect="1" noMove="1" noResize="1" noEditPoints="1" noAdjustHandles="1" noChangeArrowheads="1" noChangeShapeType="1"/>
              </p:cNvPicPr>
              <p:nvPr/>
            </p:nvPicPr>
            <p:blipFill>
              <a:blip r:embed="rId5"/>
              <a:stretch>
                <a:fillRect/>
              </a:stretch>
            </p:blipFill>
            <p:spPr>
              <a:xfrm>
                <a:off x="6629346" y="4958229"/>
                <a:ext cx="598608" cy="336717"/>
              </a:xfrm>
              <a:prstGeom prst="rect">
                <a:avLst/>
              </a:prstGeom>
              <a:ln w="3175">
                <a:solidFill>
                  <a:prstClr val="ltGray"/>
                </a:solidFill>
              </a:ln>
            </p:spPr>
          </p:pic>
        </mc:Fallback>
      </mc:AlternateContent>
      <p:pic>
        <p:nvPicPr>
          <p:cNvPr id="7" name="Picture 6">
            <a:extLst>
              <a:ext uri="{FF2B5EF4-FFF2-40B4-BE49-F238E27FC236}">
                <a16:creationId xmlns:a16="http://schemas.microsoft.com/office/drawing/2014/main" id="{D1B7666F-EA11-A1BA-44A9-BB2A869FD2D0}"/>
              </a:ext>
            </a:extLst>
          </p:cNvPr>
          <p:cNvPicPr>
            <a:picLocks noChangeAspect="1"/>
          </p:cNvPicPr>
          <p:nvPr/>
        </p:nvPicPr>
        <p:blipFill rotWithShape="1">
          <a:blip r:embed="rId7">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2091089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0E7708-694C-B5B0-9EFC-7A52211BCD71}"/>
              </a:ext>
            </a:extLst>
          </p:cNvPr>
          <p:cNvPicPr>
            <a:picLocks noChangeAspect="1"/>
          </p:cNvPicPr>
          <p:nvPr/>
        </p:nvPicPr>
        <p:blipFill rotWithShape="1">
          <a:blip r:embed="rId2">
            <a:extLst>
              <a:ext uri="{28A0092B-C50C-407E-A947-70E740481C1C}">
                <a14:useLocalDpi xmlns:a14="http://schemas.microsoft.com/office/drawing/2010/main" val="0"/>
              </a:ext>
            </a:extLst>
          </a:blip>
          <a:srcRect b="13683"/>
          <a:stretch/>
        </p:blipFill>
        <p:spPr>
          <a:xfrm>
            <a:off x="0" y="-3908"/>
            <a:ext cx="8035206" cy="6861908"/>
          </a:xfrm>
          <a:prstGeom prst="rect">
            <a:avLst/>
          </a:prstGeom>
        </p:spPr>
      </p:pic>
      <p:sp>
        <p:nvSpPr>
          <p:cNvPr id="4" name="Rectangle 3">
            <a:extLst>
              <a:ext uri="{FF2B5EF4-FFF2-40B4-BE49-F238E27FC236}">
                <a16:creationId xmlns:a16="http://schemas.microsoft.com/office/drawing/2014/main" id="{A916717D-4B60-A98C-1FFA-9BDBE3AD69AE}"/>
              </a:ext>
            </a:extLst>
          </p:cNvPr>
          <p:cNvSpPr/>
          <p:nvPr/>
        </p:nvSpPr>
        <p:spPr>
          <a:xfrm>
            <a:off x="8157126" y="2549883"/>
            <a:ext cx="3620944" cy="1754326"/>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chemeClr val="accent1"/>
                  </a:solidFill>
                </a:ln>
                <a:solidFill>
                  <a:schemeClr val="accent3"/>
                </a:solidFill>
              </a:rPr>
              <a:t>Back-End snippets</a:t>
            </a:r>
            <a:endParaRPr lang="en-US" sz="5400" b="1" cap="none" spc="0" dirty="0">
              <a:ln>
                <a:solidFill>
                  <a:schemeClr val="accent1"/>
                </a:solidFill>
              </a:ln>
              <a:solidFill>
                <a:schemeClr val="accent3"/>
              </a:solidFill>
              <a:effectLst/>
            </a:endParaRPr>
          </a:p>
        </p:txBody>
      </p:sp>
      <p:pic>
        <p:nvPicPr>
          <p:cNvPr id="5" name="Picture 4">
            <a:extLst>
              <a:ext uri="{FF2B5EF4-FFF2-40B4-BE49-F238E27FC236}">
                <a16:creationId xmlns:a16="http://schemas.microsoft.com/office/drawing/2014/main" id="{CC4B5B22-3810-D787-7746-ABD35FEE51E8}"/>
              </a:ext>
            </a:extLst>
          </p:cNvPr>
          <p:cNvPicPr>
            <a:picLocks noChangeAspect="1"/>
          </p:cNvPicPr>
          <p:nvPr/>
        </p:nvPicPr>
        <p:blipFill rotWithShape="1">
          <a:blip r:embed="rId3">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4006816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5EDEDE-61FF-E1A2-4E29-FE8797966C1E}"/>
              </a:ext>
            </a:extLst>
          </p:cNvPr>
          <p:cNvPicPr>
            <a:picLocks noChangeAspect="1"/>
          </p:cNvPicPr>
          <p:nvPr/>
        </p:nvPicPr>
        <p:blipFill rotWithShape="1">
          <a:blip r:embed="rId3">
            <a:extLst>
              <a:ext uri="{28A0092B-C50C-407E-A947-70E740481C1C}">
                <a14:useLocalDpi xmlns:a14="http://schemas.microsoft.com/office/drawing/2010/main" val="0"/>
              </a:ext>
            </a:extLst>
          </a:blip>
          <a:srcRect l="34749" t="19703" r="39751" b="18815"/>
          <a:stretch/>
        </p:blipFill>
        <p:spPr>
          <a:xfrm>
            <a:off x="0" y="0"/>
            <a:ext cx="5056742" cy="6858000"/>
          </a:xfrm>
          <a:prstGeom prst="rect">
            <a:avLst/>
          </a:prstGeom>
        </p:spPr>
      </p:pic>
      <p:pic>
        <p:nvPicPr>
          <p:cNvPr id="7" name="Picture 6">
            <a:extLst>
              <a:ext uri="{FF2B5EF4-FFF2-40B4-BE49-F238E27FC236}">
                <a16:creationId xmlns:a16="http://schemas.microsoft.com/office/drawing/2014/main" id="{1DDDE2FF-2303-4864-2903-06B5DAE7188B}"/>
              </a:ext>
            </a:extLst>
          </p:cNvPr>
          <p:cNvPicPr>
            <a:picLocks noChangeAspect="1"/>
          </p:cNvPicPr>
          <p:nvPr/>
        </p:nvPicPr>
        <p:blipFill rotWithShape="1">
          <a:blip r:embed="rId4">
            <a:extLst>
              <a:ext uri="{28A0092B-C50C-407E-A947-70E740481C1C}">
                <a14:useLocalDpi xmlns:a14="http://schemas.microsoft.com/office/drawing/2010/main" val="0"/>
              </a:ext>
            </a:extLst>
          </a:blip>
          <a:srcRect l="34750" t="21630" r="51456" b="24635"/>
          <a:stretch/>
        </p:blipFill>
        <p:spPr>
          <a:xfrm>
            <a:off x="5145552" y="0"/>
            <a:ext cx="3640218" cy="6858000"/>
          </a:xfrm>
          <a:prstGeom prst="rect">
            <a:avLst/>
          </a:prstGeom>
        </p:spPr>
      </p:pic>
      <p:pic>
        <p:nvPicPr>
          <p:cNvPr id="8" name="Picture 7">
            <a:extLst>
              <a:ext uri="{FF2B5EF4-FFF2-40B4-BE49-F238E27FC236}">
                <a16:creationId xmlns:a16="http://schemas.microsoft.com/office/drawing/2014/main" id="{ACF30459-08B2-72C8-FF46-CB3C2CC9C37A}"/>
              </a:ext>
            </a:extLst>
          </p:cNvPr>
          <p:cNvPicPr>
            <a:picLocks noChangeAspect="1"/>
          </p:cNvPicPr>
          <p:nvPr/>
        </p:nvPicPr>
        <p:blipFill rotWithShape="1">
          <a:blip r:embed="rId5"/>
          <a:srcRect t="87630" r="19985"/>
          <a:stretch/>
        </p:blipFill>
        <p:spPr>
          <a:xfrm>
            <a:off x="8874580" y="792480"/>
            <a:ext cx="2982140" cy="1178560"/>
          </a:xfrm>
          <a:prstGeom prst="rect">
            <a:avLst/>
          </a:prstGeom>
        </p:spPr>
      </p:pic>
      <p:pic>
        <p:nvPicPr>
          <p:cNvPr id="19" name="Picture 18">
            <a:extLst>
              <a:ext uri="{FF2B5EF4-FFF2-40B4-BE49-F238E27FC236}">
                <a16:creationId xmlns:a16="http://schemas.microsoft.com/office/drawing/2014/main" id="{F958B971-3993-EE1A-2204-4C5BFED317C3}"/>
              </a:ext>
            </a:extLst>
          </p:cNvPr>
          <p:cNvPicPr>
            <a:picLocks noChangeAspect="1"/>
          </p:cNvPicPr>
          <p:nvPr/>
        </p:nvPicPr>
        <p:blipFill>
          <a:blip r:embed="rId6"/>
          <a:stretch>
            <a:fillRect/>
          </a:stretch>
        </p:blipFill>
        <p:spPr>
          <a:xfrm>
            <a:off x="8674451" y="2937180"/>
            <a:ext cx="3621338" cy="1755800"/>
          </a:xfrm>
          <a:prstGeom prst="rect">
            <a:avLst/>
          </a:prstGeom>
        </p:spPr>
      </p:pic>
      <p:pic>
        <p:nvPicPr>
          <p:cNvPr id="20" name="Picture 19">
            <a:extLst>
              <a:ext uri="{FF2B5EF4-FFF2-40B4-BE49-F238E27FC236}">
                <a16:creationId xmlns:a16="http://schemas.microsoft.com/office/drawing/2014/main" id="{156BD391-309F-E312-911F-F36AAEA3C22A}"/>
              </a:ext>
            </a:extLst>
          </p:cNvPr>
          <p:cNvPicPr>
            <a:picLocks noChangeAspect="1"/>
          </p:cNvPicPr>
          <p:nvPr/>
        </p:nvPicPr>
        <p:blipFill rotWithShape="1">
          <a:blip r:embed="rId7">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4281841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6C17571-5C6F-12FE-D810-67DDF0210A7E}"/>
              </a:ext>
            </a:extLst>
          </p:cNvPr>
          <p:cNvSpPr txBox="1"/>
          <p:nvPr/>
        </p:nvSpPr>
        <p:spPr>
          <a:xfrm>
            <a:off x="4185920" y="-27442"/>
            <a:ext cx="2942047" cy="584775"/>
          </a:xfrm>
          <a:prstGeom prst="rect">
            <a:avLst/>
          </a:prstGeom>
          <a:solidFill>
            <a:schemeClr val="accent1"/>
          </a:solidFill>
        </p:spPr>
        <p:txBody>
          <a:bodyPr wrap="square" rtlCol="0">
            <a:spAutoFit/>
          </a:bodyPr>
          <a:lstStyle/>
          <a:p>
            <a:r>
              <a:rPr lang="en-US" sz="3200" dirty="0">
                <a:solidFill>
                  <a:schemeClr val="bg1"/>
                </a:solidFill>
              </a:rPr>
              <a:t>Working Model </a:t>
            </a:r>
            <a:endParaRPr lang="en-IN" sz="3200" dirty="0">
              <a:solidFill>
                <a:schemeClr val="bg1"/>
              </a:solidFill>
            </a:endParaRPr>
          </a:p>
        </p:txBody>
      </p:sp>
      <p:pic>
        <p:nvPicPr>
          <p:cNvPr id="6" name="Picture 5">
            <a:extLst>
              <a:ext uri="{FF2B5EF4-FFF2-40B4-BE49-F238E27FC236}">
                <a16:creationId xmlns:a16="http://schemas.microsoft.com/office/drawing/2014/main" id="{081E8A3A-2521-35FC-D7C1-5F47CFCF4B42}"/>
              </a:ext>
            </a:extLst>
          </p:cNvPr>
          <p:cNvPicPr>
            <a:picLocks noChangeAspect="1"/>
          </p:cNvPicPr>
          <p:nvPr/>
        </p:nvPicPr>
        <p:blipFill rotWithShape="1">
          <a:blip r:embed="rId2">
            <a:extLst>
              <a:ext uri="{28A0092B-C50C-407E-A947-70E740481C1C}">
                <a14:useLocalDpi xmlns:a14="http://schemas.microsoft.com/office/drawing/2010/main" val="0"/>
              </a:ext>
            </a:extLst>
          </a:blip>
          <a:srcRect b="1536"/>
          <a:stretch/>
        </p:blipFill>
        <p:spPr>
          <a:xfrm>
            <a:off x="0" y="415607"/>
            <a:ext cx="12192000" cy="6574473"/>
          </a:xfrm>
          <a:prstGeom prst="rect">
            <a:avLst/>
          </a:prstGeom>
        </p:spPr>
      </p:pic>
      <p:pic>
        <p:nvPicPr>
          <p:cNvPr id="4" name="Picture 3">
            <a:extLst>
              <a:ext uri="{FF2B5EF4-FFF2-40B4-BE49-F238E27FC236}">
                <a16:creationId xmlns:a16="http://schemas.microsoft.com/office/drawing/2014/main" id="{D545330F-0AB2-5301-79BC-072A8C3A8D98}"/>
              </a:ext>
            </a:extLst>
          </p:cNvPr>
          <p:cNvPicPr>
            <a:picLocks noChangeAspect="1"/>
          </p:cNvPicPr>
          <p:nvPr/>
        </p:nvPicPr>
        <p:blipFill rotWithShape="1">
          <a:blip r:embed="rId3">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93595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B84EFB-F71E-DDE0-6AC6-06B60FF74056}"/>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pic>
        <p:nvPicPr>
          <p:cNvPr id="10" name="Picture 9">
            <a:extLst>
              <a:ext uri="{FF2B5EF4-FFF2-40B4-BE49-F238E27FC236}">
                <a16:creationId xmlns:a16="http://schemas.microsoft.com/office/drawing/2014/main" id="{684A5584-4C5A-29D8-E00D-861A9EEEA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12192000" cy="6248400"/>
          </a:xfrm>
          <a:prstGeom prst="rect">
            <a:avLst/>
          </a:prstGeom>
        </p:spPr>
      </p:pic>
    </p:spTree>
    <p:extLst>
      <p:ext uri="{BB962C8B-B14F-4D97-AF65-F5344CB8AC3E}">
        <p14:creationId xmlns:p14="http://schemas.microsoft.com/office/powerpoint/2010/main" val="3275830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8F71B7-4C04-5449-EF55-DDF0781C1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5269"/>
            <a:ext cx="12192000" cy="6392731"/>
          </a:xfrm>
          <a:prstGeom prst="rect">
            <a:avLst/>
          </a:prstGeom>
        </p:spPr>
      </p:pic>
      <p:pic>
        <p:nvPicPr>
          <p:cNvPr id="5" name="Picture 4">
            <a:extLst>
              <a:ext uri="{FF2B5EF4-FFF2-40B4-BE49-F238E27FC236}">
                <a16:creationId xmlns:a16="http://schemas.microsoft.com/office/drawing/2014/main" id="{CDD531FB-5C7A-F090-69F4-94F3693969B2}"/>
              </a:ext>
            </a:extLst>
          </p:cNvPr>
          <p:cNvPicPr>
            <a:picLocks noChangeAspect="1"/>
          </p:cNvPicPr>
          <p:nvPr/>
        </p:nvPicPr>
        <p:blipFill rotWithShape="1">
          <a:blip r:embed="rId3">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634748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1E6D056-BC1E-55C4-AE1D-0A22D27CADC9}"/>
              </a:ext>
            </a:extLst>
          </p:cNvPr>
          <p:cNvSpPr/>
          <p:nvPr/>
        </p:nvSpPr>
        <p:spPr>
          <a:xfrm>
            <a:off x="3502660" y="965200"/>
            <a:ext cx="5186680" cy="51409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solidFill>
                <a:schemeClr val="accent2">
                  <a:lumMod val="20000"/>
                  <a:lumOff val="80000"/>
                </a:schemeClr>
              </a:solidFill>
            </a:endParaRPr>
          </a:p>
        </p:txBody>
      </p:sp>
      <p:sp>
        <p:nvSpPr>
          <p:cNvPr id="3" name="TextBox 2">
            <a:extLst>
              <a:ext uri="{FF2B5EF4-FFF2-40B4-BE49-F238E27FC236}">
                <a16:creationId xmlns:a16="http://schemas.microsoft.com/office/drawing/2014/main" id="{EE44DB39-A898-5BBD-F46E-D441B613457A}"/>
              </a:ext>
            </a:extLst>
          </p:cNvPr>
          <p:cNvSpPr txBox="1"/>
          <p:nvPr/>
        </p:nvSpPr>
        <p:spPr>
          <a:xfrm>
            <a:off x="4025900" y="2981682"/>
            <a:ext cx="4358640" cy="1107996"/>
          </a:xfrm>
          <a:prstGeom prst="rect">
            <a:avLst/>
          </a:prstGeom>
          <a:noFill/>
          <a:effectLst>
            <a:glow rad="139700">
              <a:schemeClr val="accent2">
                <a:satMod val="175000"/>
                <a:alpha val="40000"/>
              </a:schemeClr>
            </a:glow>
          </a:effectLst>
        </p:spPr>
        <p:txBody>
          <a:bodyPr wrap="square" rtlCol="0">
            <a:spAutoFit/>
          </a:bodyPr>
          <a:lstStyle/>
          <a:p>
            <a:r>
              <a:rPr lang="en-IN" sz="4800" dirty="0">
                <a:solidFill>
                  <a:schemeClr val="accent2">
                    <a:lumMod val="20000"/>
                    <a:lumOff val="80000"/>
                  </a:schemeClr>
                </a:solidFill>
              </a:rPr>
              <a:t>CONCLUSION</a:t>
            </a:r>
          </a:p>
          <a:p>
            <a:endParaRPr lang="en-IN" dirty="0"/>
          </a:p>
        </p:txBody>
      </p:sp>
      <p:pic>
        <p:nvPicPr>
          <p:cNvPr id="4" name="Picture 3">
            <a:extLst>
              <a:ext uri="{FF2B5EF4-FFF2-40B4-BE49-F238E27FC236}">
                <a16:creationId xmlns:a16="http://schemas.microsoft.com/office/drawing/2014/main" id="{4B353803-1291-65A6-5AFE-B26FED9B6CFA}"/>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6232443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1E6D056-BC1E-55C4-AE1D-0A22D27CADC9}"/>
              </a:ext>
            </a:extLst>
          </p:cNvPr>
          <p:cNvSpPr/>
          <p:nvPr/>
        </p:nvSpPr>
        <p:spPr>
          <a:xfrm>
            <a:off x="81280" y="45720"/>
            <a:ext cx="3467100" cy="33832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solidFill>
                <a:schemeClr val="accent2">
                  <a:lumMod val="20000"/>
                  <a:lumOff val="80000"/>
                </a:schemeClr>
              </a:solidFill>
            </a:endParaRPr>
          </a:p>
        </p:txBody>
      </p:sp>
      <p:sp>
        <p:nvSpPr>
          <p:cNvPr id="3" name="TextBox 2">
            <a:extLst>
              <a:ext uri="{FF2B5EF4-FFF2-40B4-BE49-F238E27FC236}">
                <a16:creationId xmlns:a16="http://schemas.microsoft.com/office/drawing/2014/main" id="{EE44DB39-A898-5BBD-F46E-D441B613457A}"/>
              </a:ext>
            </a:extLst>
          </p:cNvPr>
          <p:cNvSpPr txBox="1"/>
          <p:nvPr/>
        </p:nvSpPr>
        <p:spPr>
          <a:xfrm>
            <a:off x="497840" y="1478002"/>
            <a:ext cx="2854960" cy="800219"/>
          </a:xfrm>
          <a:prstGeom prst="rect">
            <a:avLst/>
          </a:prstGeom>
          <a:noFill/>
          <a:effectLst>
            <a:glow rad="139700">
              <a:schemeClr val="accent2">
                <a:satMod val="175000"/>
                <a:alpha val="40000"/>
              </a:schemeClr>
            </a:glow>
          </a:effectLst>
        </p:spPr>
        <p:txBody>
          <a:bodyPr wrap="square" rtlCol="0">
            <a:spAutoFit/>
          </a:bodyPr>
          <a:lstStyle/>
          <a:p>
            <a:r>
              <a:rPr lang="en-IN" sz="2800" dirty="0">
                <a:solidFill>
                  <a:schemeClr val="accent2">
                    <a:lumMod val="20000"/>
                    <a:lumOff val="80000"/>
                  </a:schemeClr>
                </a:solidFill>
              </a:rPr>
              <a:t>CONCLUSION</a:t>
            </a:r>
          </a:p>
          <a:p>
            <a:endParaRPr lang="en-IN" dirty="0"/>
          </a:p>
        </p:txBody>
      </p:sp>
      <p:sp>
        <p:nvSpPr>
          <p:cNvPr id="5" name="TextBox 4">
            <a:extLst>
              <a:ext uri="{FF2B5EF4-FFF2-40B4-BE49-F238E27FC236}">
                <a16:creationId xmlns:a16="http://schemas.microsoft.com/office/drawing/2014/main" id="{2924510A-39CC-C43D-7B7F-06C7EED4C5C2}"/>
              </a:ext>
            </a:extLst>
          </p:cNvPr>
          <p:cNvSpPr txBox="1"/>
          <p:nvPr/>
        </p:nvSpPr>
        <p:spPr>
          <a:xfrm>
            <a:off x="3860800" y="843281"/>
            <a:ext cx="7528560" cy="5262979"/>
          </a:xfrm>
          <a:prstGeom prst="rect">
            <a:avLst/>
          </a:prstGeom>
          <a:noFill/>
        </p:spPr>
        <p:txBody>
          <a:bodyPr wrap="square">
            <a:spAutoFit/>
          </a:bodyPr>
          <a:lstStyle/>
          <a:p>
            <a:pPr algn="ctr"/>
            <a:r>
              <a:rPr lang="en-US" sz="2400" b="1" i="1" u="sng" dirty="0" err="1">
                <a:solidFill>
                  <a:schemeClr val="accent2">
                    <a:lumMod val="50000"/>
                  </a:schemeClr>
                </a:solidFill>
              </a:rPr>
              <a:t>Comparelo</a:t>
            </a:r>
            <a:r>
              <a:rPr lang="en-US" sz="2400" dirty="0">
                <a:solidFill>
                  <a:schemeClr val="accent2">
                    <a:lumMod val="50000"/>
                  </a:schemeClr>
                </a:solidFill>
              </a:rPr>
              <a:t> is a revolutionary platform that addresses the challenge of information overload when comparing products online. It allows users to conveniently compare multiple products side-by-side in one app, simplifying purchasing decisions for consumers and procurement processes for businesses.</a:t>
            </a:r>
            <a:endParaRPr lang="en-IN" sz="2400" dirty="0">
              <a:solidFill>
                <a:schemeClr val="accent2">
                  <a:lumMod val="50000"/>
                </a:schemeClr>
              </a:solidFill>
            </a:endParaRPr>
          </a:p>
          <a:p>
            <a:pPr algn="ctr"/>
            <a:r>
              <a:rPr lang="en-US" sz="2400" dirty="0">
                <a:solidFill>
                  <a:schemeClr val="accent2">
                    <a:lumMod val="50000"/>
                  </a:schemeClr>
                </a:solidFill>
              </a:rPr>
              <a:t> </a:t>
            </a:r>
            <a:r>
              <a:rPr lang="en-US" sz="2400" dirty="0" err="1">
                <a:solidFill>
                  <a:schemeClr val="accent2">
                    <a:lumMod val="50000"/>
                  </a:schemeClr>
                </a:solidFill>
              </a:rPr>
              <a:t>Comparelo's</a:t>
            </a:r>
            <a:r>
              <a:rPr lang="en-US" sz="2400" dirty="0">
                <a:solidFill>
                  <a:schemeClr val="accent2">
                    <a:lumMod val="50000"/>
                  </a:schemeClr>
                </a:solidFill>
              </a:rPr>
              <a:t> primary goal is to provide real-time data updates to ensure accurate pricing and availability information. Additionally, it focuses on enhancing the user experience with a user-friendly interface, intuitive navigation, and responsive design for both desktop and mobile devices. </a:t>
            </a:r>
            <a:r>
              <a:rPr lang="en-US" sz="2400" dirty="0" err="1">
                <a:solidFill>
                  <a:schemeClr val="accent2">
                    <a:lumMod val="50000"/>
                  </a:schemeClr>
                </a:solidFill>
              </a:rPr>
              <a:t>Comparelo</a:t>
            </a:r>
            <a:r>
              <a:rPr lang="en-US" sz="2400" dirty="0">
                <a:solidFill>
                  <a:schemeClr val="accent2">
                    <a:lumMod val="50000"/>
                  </a:schemeClr>
                </a:solidFill>
              </a:rPr>
              <a:t> aims to transform the way consumers and businesses make informed product selections efficiently.</a:t>
            </a:r>
            <a:r>
              <a:rPr lang="en-IN" sz="2400" dirty="0">
                <a:solidFill>
                  <a:schemeClr val="accent2">
                    <a:lumMod val="50000"/>
                  </a:schemeClr>
                </a:solidFill>
              </a:rPr>
              <a:t> </a:t>
            </a:r>
            <a:endParaRPr lang="en-IN" sz="2400" dirty="0">
              <a:solidFill>
                <a:schemeClr val="accent2">
                  <a:lumMod val="20000"/>
                  <a:lumOff val="80000"/>
                </a:schemeClr>
              </a:solidFill>
            </a:endParaRPr>
          </a:p>
        </p:txBody>
      </p:sp>
      <p:pic>
        <p:nvPicPr>
          <p:cNvPr id="6" name="Picture 5">
            <a:extLst>
              <a:ext uri="{FF2B5EF4-FFF2-40B4-BE49-F238E27FC236}">
                <a16:creationId xmlns:a16="http://schemas.microsoft.com/office/drawing/2014/main" id="{550C8A74-432B-CBDB-1623-CCA3B5F26D22}"/>
              </a:ext>
            </a:extLst>
          </p:cNvPr>
          <p:cNvPicPr>
            <a:picLocks noChangeAspect="1"/>
          </p:cNvPicPr>
          <p:nvPr/>
        </p:nvPicPr>
        <p:blipFill rotWithShape="1">
          <a:blip r:embed="rId2">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3431804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B73CE-7EF9-B892-B98D-B6D2F52556FC}"/>
              </a:ext>
            </a:extLst>
          </p:cNvPr>
          <p:cNvSpPr txBox="1"/>
          <p:nvPr/>
        </p:nvSpPr>
        <p:spPr>
          <a:xfrm>
            <a:off x="218440" y="1630343"/>
            <a:ext cx="11755120" cy="4708981"/>
          </a:xfrm>
          <a:prstGeom prst="rect">
            <a:avLst/>
          </a:prstGeom>
          <a:noFill/>
        </p:spPr>
        <p:txBody>
          <a:bodyPr wrap="square">
            <a:spAutoFit/>
          </a:bodyPr>
          <a:lstStyle/>
          <a:p>
            <a:pPr marL="342900" indent="-342900">
              <a:buFont typeface="Wingdings" panose="05000000000000000000" pitchFamily="2" charset="2"/>
              <a:buChar char="ü"/>
            </a:pPr>
            <a:r>
              <a:rPr lang="en-IN" sz="2000" dirty="0">
                <a:solidFill>
                  <a:schemeClr val="accent1"/>
                </a:solidFill>
                <a:hlinkClick r:id="rId2">
                  <a:extLst>
                    <a:ext uri="{A12FA001-AC4F-418D-AE19-62706E023703}">
                      <ahyp:hlinkClr xmlns:ahyp="http://schemas.microsoft.com/office/drawing/2018/hyperlinkcolor" val="tx"/>
                    </a:ext>
                  </a:extLst>
                </a:hlinkClick>
              </a:rPr>
              <a:t>https://www.researchgate.net/publication/348923873_PRICE_COMPARISON_WEBSITEs</a:t>
            </a:r>
            <a:endParaRPr lang="en-IN" sz="2000" dirty="0">
              <a:solidFill>
                <a:schemeClr val="accent1"/>
              </a:solidFill>
            </a:endParaRPr>
          </a:p>
          <a:p>
            <a:pPr marL="342900" indent="-342900">
              <a:buFont typeface="Wingdings" panose="05000000000000000000" pitchFamily="2" charset="2"/>
              <a:buChar char="ü"/>
            </a:pPr>
            <a:r>
              <a:rPr lang="en-IN" sz="2000" dirty="0">
                <a:solidFill>
                  <a:schemeClr val="accent1"/>
                </a:solidFill>
                <a:hlinkClick r:id="rId3">
                  <a:extLst>
                    <a:ext uri="{A12FA001-AC4F-418D-AE19-62706E023703}">
                      <ahyp:hlinkClr xmlns:ahyp="http://schemas.microsoft.com/office/drawing/2018/hyperlinkcolor" val="tx"/>
                    </a:ext>
                  </a:extLst>
                </a:hlinkClick>
              </a:rPr>
              <a:t>https://medium.com/gobeyond-ai/how-to-create-a-great-product-comparison-page-to-boost-conversions-a37bf95681fd</a:t>
            </a:r>
            <a:endParaRPr lang="en-IN" sz="2000" dirty="0">
              <a:solidFill>
                <a:schemeClr val="accent1"/>
              </a:solidFill>
            </a:endParaRPr>
          </a:p>
          <a:p>
            <a:pPr marL="342900" indent="-342900" algn="just">
              <a:buFont typeface="Wingdings" panose="05000000000000000000" pitchFamily="2" charset="2"/>
              <a:buChar char="ü"/>
            </a:pPr>
            <a:r>
              <a:rPr lang="en-US" sz="2000" dirty="0">
                <a:solidFill>
                  <a:schemeClr val="accent1"/>
                </a:solidFill>
              </a:rPr>
              <a:t>Hossain, M. M., Rahman, M. S., &amp; Nahar, S. (2015). Customer satisfaction and switching barriers: Effects on customer loyalty. International Journal of Information Management, 35(1), 71-82.</a:t>
            </a:r>
          </a:p>
          <a:p>
            <a:pPr marL="342900" indent="-342900" algn="just">
              <a:buFont typeface="Wingdings" panose="05000000000000000000" pitchFamily="2" charset="2"/>
              <a:buChar char="ü"/>
            </a:pPr>
            <a:r>
              <a:rPr lang="en-US" sz="2000" dirty="0" err="1">
                <a:solidFill>
                  <a:schemeClr val="accent1"/>
                </a:solidFill>
              </a:rPr>
              <a:t>Dellarocas</a:t>
            </a:r>
            <a:r>
              <a:rPr lang="en-US" sz="2000" dirty="0">
                <a:solidFill>
                  <a:schemeClr val="accent1"/>
                </a:solidFill>
              </a:rPr>
              <a:t>, C., Zhang, X., &amp; </a:t>
            </a:r>
            <a:r>
              <a:rPr lang="en-US" sz="2000" dirty="0" err="1">
                <a:solidFill>
                  <a:schemeClr val="accent1"/>
                </a:solidFill>
              </a:rPr>
              <a:t>Awad</a:t>
            </a:r>
            <a:r>
              <a:rPr lang="en-US" sz="2000" dirty="0">
                <a:solidFill>
                  <a:schemeClr val="accent1"/>
                </a:solidFill>
              </a:rPr>
              <a:t>, N. F. (2007). Exploring the value of online product reviews in forecasting sales: The case of motion pictures. Journal of Interactive Marketing, 21(4), 23-45.</a:t>
            </a:r>
          </a:p>
          <a:p>
            <a:pPr marL="342900" indent="-342900" algn="just">
              <a:buFont typeface="Wingdings" panose="05000000000000000000" pitchFamily="2" charset="2"/>
              <a:buChar char="ü"/>
            </a:pPr>
            <a:r>
              <a:rPr lang="en-US" sz="2000" dirty="0" err="1">
                <a:solidFill>
                  <a:schemeClr val="accent1"/>
                </a:solidFill>
              </a:rPr>
              <a:t>Kamishima</a:t>
            </a:r>
            <a:r>
              <a:rPr lang="en-US" sz="2000" dirty="0">
                <a:solidFill>
                  <a:schemeClr val="accent1"/>
                </a:solidFill>
              </a:rPr>
              <a:t>, T., </a:t>
            </a:r>
            <a:r>
              <a:rPr lang="en-US" sz="2000" dirty="0" err="1">
                <a:solidFill>
                  <a:schemeClr val="accent1"/>
                </a:solidFill>
              </a:rPr>
              <a:t>Kazawa</a:t>
            </a:r>
            <a:r>
              <a:rPr lang="en-US" sz="2000" dirty="0">
                <a:solidFill>
                  <a:schemeClr val="accent1"/>
                </a:solidFill>
              </a:rPr>
              <a:t>, H., &amp; </a:t>
            </a:r>
            <a:r>
              <a:rPr lang="en-US" sz="2000" dirty="0" err="1">
                <a:solidFill>
                  <a:schemeClr val="accent1"/>
                </a:solidFill>
              </a:rPr>
              <a:t>Akaho</a:t>
            </a:r>
            <a:r>
              <a:rPr lang="en-US" sz="2000" dirty="0">
                <a:solidFill>
                  <a:schemeClr val="accent1"/>
                </a:solidFill>
              </a:rPr>
              <a:t>, S. (2013). Improving the accuracy and comprehensibility of item recommendation. User Modeling and User-Adapted Interaction, 23(5), 407-440.</a:t>
            </a:r>
          </a:p>
          <a:p>
            <a:pPr marL="342900" indent="-342900" algn="just">
              <a:buFont typeface="Wingdings" panose="05000000000000000000" pitchFamily="2" charset="2"/>
              <a:buChar char="ü"/>
            </a:pPr>
            <a:r>
              <a:rPr lang="en-US" sz="2000" dirty="0">
                <a:solidFill>
                  <a:schemeClr val="accent1"/>
                </a:solidFill>
              </a:rPr>
              <a:t>Jindal, N., &amp; Liu, B. (2007). Review spam detection. In Proceedings of the 16th international conference on World Wide Web (WWW'07) (pp. 1189-1190).</a:t>
            </a:r>
          </a:p>
          <a:p>
            <a:pPr marL="342900" indent="-342900" algn="just">
              <a:buFont typeface="Wingdings" panose="05000000000000000000" pitchFamily="2" charset="2"/>
              <a:buChar char="ü"/>
            </a:pPr>
            <a:r>
              <a:rPr lang="en-IN" sz="2000" dirty="0">
                <a:solidFill>
                  <a:schemeClr val="accent2">
                    <a:lumMod val="50000"/>
                  </a:schemeClr>
                </a:solidFill>
                <a:hlinkClick r:id="rId4">
                  <a:extLst>
                    <a:ext uri="{A12FA001-AC4F-418D-AE19-62706E023703}">
                      <ahyp:hlinkClr xmlns:ahyp="http://schemas.microsoft.com/office/drawing/2018/hyperlinkcolor" val="tx"/>
                    </a:ext>
                  </a:extLst>
                </a:hlinkClick>
              </a:rPr>
              <a:t>https://youtu.be/9dY4ExUEgZw?si=j7R26VPtHqh3_aHm</a:t>
            </a:r>
            <a:endParaRPr lang="en-IN" sz="2000" dirty="0">
              <a:solidFill>
                <a:schemeClr val="accent2">
                  <a:lumMod val="50000"/>
                </a:schemeClr>
              </a:solidFill>
            </a:endParaRPr>
          </a:p>
          <a:p>
            <a:pPr marL="342900" indent="-342900" algn="just">
              <a:buFont typeface="Wingdings" panose="05000000000000000000" pitchFamily="2" charset="2"/>
              <a:buChar char="ü"/>
            </a:pPr>
            <a:r>
              <a:rPr lang="en-IN" sz="2000" dirty="0">
                <a:solidFill>
                  <a:schemeClr val="accent2">
                    <a:lumMod val="50000"/>
                  </a:schemeClr>
                </a:solidFill>
                <a:hlinkClick r:id="rId5">
                  <a:extLst>
                    <a:ext uri="{A12FA001-AC4F-418D-AE19-62706E023703}">
                      <ahyp:hlinkClr xmlns:ahyp="http://schemas.microsoft.com/office/drawing/2018/hyperlinkcolor" val="tx"/>
                    </a:ext>
                  </a:extLst>
                </a:hlinkClick>
              </a:rPr>
              <a:t>https://youtu.be/M_bhZEY6_kM?si=eitH5OPGGlYRtjpn</a:t>
            </a:r>
            <a:endParaRPr lang="en-IN" sz="2000" dirty="0">
              <a:solidFill>
                <a:schemeClr val="accent2">
                  <a:lumMod val="50000"/>
                </a:schemeClr>
              </a:solidFill>
            </a:endParaRPr>
          </a:p>
          <a:p>
            <a:pPr marL="342900" indent="-342900" algn="just">
              <a:buFont typeface="Wingdings" panose="05000000000000000000" pitchFamily="2" charset="2"/>
              <a:buChar char="ü"/>
            </a:pPr>
            <a:r>
              <a:rPr lang="en-IN" sz="2000" dirty="0">
                <a:solidFill>
                  <a:schemeClr val="accent2">
                    <a:lumMod val="50000"/>
                  </a:schemeClr>
                </a:solidFill>
                <a:hlinkClick r:id="rId6">
                  <a:extLst>
                    <a:ext uri="{A12FA001-AC4F-418D-AE19-62706E023703}">
                      <ahyp:hlinkClr xmlns:ahyp="http://schemas.microsoft.com/office/drawing/2018/hyperlinkcolor" val="tx"/>
                    </a:ext>
                  </a:extLst>
                </a:hlinkClick>
              </a:rPr>
              <a:t>https://amzn.eu/d/8kWaHsJ</a:t>
            </a:r>
            <a:endParaRPr lang="en-IN" sz="2000" dirty="0">
              <a:solidFill>
                <a:schemeClr val="accent1"/>
              </a:solidFill>
            </a:endParaRPr>
          </a:p>
          <a:p>
            <a:pPr marL="342900" indent="-342900" algn="just">
              <a:buFont typeface="Wingdings" panose="05000000000000000000" pitchFamily="2" charset="2"/>
              <a:buChar char="ü"/>
            </a:pPr>
            <a:r>
              <a:rPr lang="en-IN" sz="2000" dirty="0">
                <a:solidFill>
                  <a:schemeClr val="accent2">
                    <a:lumMod val="50000"/>
                  </a:schemeClr>
                </a:solidFill>
                <a:hlinkClick r:id="rId7">
                  <a:extLst>
                    <a:ext uri="{A12FA001-AC4F-418D-AE19-62706E023703}">
                      <ahyp:hlinkClr xmlns:ahyp="http://schemas.microsoft.com/office/drawing/2018/hyperlinkcolor" val="tx"/>
                    </a:ext>
                  </a:extLst>
                </a:hlinkClick>
              </a:rPr>
              <a:t>https://www.flipkart.com/</a:t>
            </a:r>
            <a:endParaRPr lang="en-IN" sz="2000" dirty="0">
              <a:solidFill>
                <a:schemeClr val="accent2">
                  <a:lumMod val="50000"/>
                </a:schemeClr>
              </a:solidFill>
            </a:endParaRPr>
          </a:p>
        </p:txBody>
      </p:sp>
      <p:sp>
        <p:nvSpPr>
          <p:cNvPr id="5" name="TextBox 4">
            <a:extLst>
              <a:ext uri="{FF2B5EF4-FFF2-40B4-BE49-F238E27FC236}">
                <a16:creationId xmlns:a16="http://schemas.microsoft.com/office/drawing/2014/main" id="{96B61086-773D-1A7F-0ADE-48E2B5B46ED8}"/>
              </a:ext>
            </a:extLst>
          </p:cNvPr>
          <p:cNvSpPr txBox="1"/>
          <p:nvPr/>
        </p:nvSpPr>
        <p:spPr>
          <a:xfrm>
            <a:off x="375920" y="614680"/>
            <a:ext cx="10789920" cy="1015663"/>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w="0"/>
                <a:solidFill>
                  <a:srgbClr val="4D1434"/>
                </a:solidFill>
                <a:effectLst>
                  <a:outerShdw blurRad="38100" dist="25400" dir="5400000" algn="ctr" rotWithShape="0">
                    <a:srgbClr val="6E747A">
                      <a:alpha val="43000"/>
                    </a:srgbClr>
                  </a:outerShdw>
                </a:effectLst>
                <a:uLnTx/>
                <a:uFillTx/>
                <a:latin typeface="Gill Sans MT" panose="020B0502020104020203"/>
                <a:ea typeface="+mn-ea"/>
                <a:cs typeface="+mn-cs"/>
              </a:rPr>
              <a:t>References</a:t>
            </a:r>
            <a:endParaRPr kumimoji="0" lang="en-US" sz="4000" b="1" i="0" u="none" strike="noStrike" kern="1200" cap="none" spc="0" normalizeH="0" baseline="0" noProof="0" dirty="0">
              <a:ln/>
              <a:solidFill>
                <a:srgbClr val="B2324B"/>
              </a:solidFill>
              <a:effectLst/>
              <a:uLnTx/>
              <a:uFillTx/>
              <a:latin typeface="Gill Sans MT" panose="020B0502020104020203"/>
              <a:ea typeface="+mn-ea"/>
              <a:cs typeface="+mn-cs"/>
            </a:endParaRPr>
          </a:p>
        </p:txBody>
      </p:sp>
      <p:pic>
        <p:nvPicPr>
          <p:cNvPr id="2" name="Picture 1">
            <a:extLst>
              <a:ext uri="{FF2B5EF4-FFF2-40B4-BE49-F238E27FC236}">
                <a16:creationId xmlns:a16="http://schemas.microsoft.com/office/drawing/2014/main" id="{24EDC016-375C-6859-86C0-ADA78813ACD5}"/>
              </a:ext>
            </a:extLst>
          </p:cNvPr>
          <p:cNvPicPr>
            <a:picLocks noChangeAspect="1"/>
          </p:cNvPicPr>
          <p:nvPr/>
        </p:nvPicPr>
        <p:blipFill rotWithShape="1">
          <a:blip r:embed="rId8">
            <a:extLst>
              <a:ext uri="{28A0092B-C50C-407E-A947-70E740481C1C}">
                <a14:useLocalDpi xmlns:a14="http://schemas.microsoft.com/office/drawing/2010/main" val="0"/>
              </a:ext>
            </a:extLst>
          </a:blip>
          <a:srcRect l="21650" r="25194"/>
          <a:stretch/>
        </p:blipFill>
        <p:spPr>
          <a:xfrm>
            <a:off x="11473543" y="0"/>
            <a:ext cx="718457" cy="614680"/>
          </a:xfrm>
          <a:prstGeom prst="rect">
            <a:avLst/>
          </a:prstGeom>
        </p:spPr>
      </p:pic>
    </p:spTree>
    <p:extLst>
      <p:ext uri="{BB962C8B-B14F-4D97-AF65-F5344CB8AC3E}">
        <p14:creationId xmlns:p14="http://schemas.microsoft.com/office/powerpoint/2010/main" val="128725507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379</TotalTime>
  <Words>1825</Words>
  <Application>Microsoft Office PowerPoint</Application>
  <PresentationFormat>Widescreen</PresentationFormat>
  <Paragraphs>170</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Agency FB</vt:lpstr>
      <vt:lpstr>Algerian</vt:lpstr>
      <vt:lpstr>Arial</vt:lpstr>
      <vt:lpstr>Bahnschrift SemiBold</vt:lpstr>
      <vt:lpstr>Calibri</vt:lpstr>
      <vt:lpstr>Cambria</vt:lpstr>
      <vt:lpstr>Gill Sans MT</vt:lpstr>
      <vt:lpstr>Times New Roman</vt:lpstr>
      <vt:lpstr>Wingdings</vt:lpstr>
      <vt:lpstr>Wingdings 2</vt:lpstr>
      <vt:lpstr>Dividend</vt:lpstr>
      <vt:lpstr>Comparelo</vt:lpstr>
      <vt:lpstr>What is Comparelo ?</vt:lpstr>
      <vt:lpstr>PowerPoint Presentation</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COMPARELO</dc:title>
  <dc:creator>Palak jain</dc:creator>
  <cp:lastModifiedBy>Palak jain</cp:lastModifiedBy>
  <cp:revision>14</cp:revision>
  <dcterms:created xsi:type="dcterms:W3CDTF">2023-09-06T12:12:57Z</dcterms:created>
  <dcterms:modified xsi:type="dcterms:W3CDTF">2023-10-19T05:23:56Z</dcterms:modified>
</cp:coreProperties>
</file>